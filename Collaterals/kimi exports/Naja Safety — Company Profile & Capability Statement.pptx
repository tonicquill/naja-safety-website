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7560000" cy="10692000" type="custom"/>
  <p:notesSz cx="12192000" cy="6858000"/>
  <p:embeddedFontLst>
    <p:embeddedFont>
      <p:font typeface="MiSans" charset="-122" pitchFamily="34"/>
      <p:regular r:id="rId17"/>
    </p:embeddedFont>
    <p:embeddedFont>
      <p:font typeface="In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_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_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_1.jpg"/><Relationship Id="rId3" Type="http://schemas.openxmlformats.org/officeDocument/2006/relationships/image" Target="../media/image12_2.jpg"/><Relationship Id="rId4" Type="http://schemas.openxmlformats.org/officeDocument/2006/relationships/image" Target="../media/image12_3.jpg"/><Relationship Id="rId5" Type="http://schemas.openxmlformats.org/officeDocument/2006/relationships/image" Target="../media/image12_4.jpg"/><Relationship Id="rId6" Type="http://schemas.openxmlformats.org/officeDocument/2006/relationships/image" Target="../media/image12_5.jpg"/><Relationship Id="rId7" Type="http://schemas.openxmlformats.org/officeDocument/2006/relationships/image" Target="../media/image12_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_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_1.jp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/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0" y="0"/>
            <a:ext cx="7188200" cy="6858000"/>
          </a:xfrm>
          <a:prstGeom prst="rect">
            <a:avLst/>
          </a:prstGeom>
          <a:ln>
            <a:noFill/>
          </a:ln>
        </p:spPr>
      </p:pic>
      <p:sp>
        <p:nvSpPr>
          <p:cNvPr id="3" name="nav-line-1"/>
          <p:cNvSpPr txBox="1"/>
          <p:nvPr/>
        </p:nvSpPr>
        <p:spPr>
          <a:xfrm>
            <a:off x="7620000" y="355600"/>
            <a:ext cx="431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COMPANY PROFILE / CAPABILITY STATEMENT</a:t>
            </a:r>
            <a:endParaRPr lang="en-US" sz="1000" noProof="1"/>
          </a:p>
        </p:txBody>
      </p:sp>
      <p:sp>
        <p:nvSpPr>
          <p:cNvPr id="4" name="nav-line-2"/>
          <p:cNvSpPr txBox="1"/>
          <p:nvPr/>
        </p:nvSpPr>
        <p:spPr>
          <a:xfrm>
            <a:off x="7620000" y="584200"/>
            <a:ext cx="431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NAJA SAFETY · JOHOR BAHRU · SEP 2026</a:t>
            </a:r>
            <a:endParaRPr lang="en-US" sz="1000" noProof="1"/>
          </a:p>
        </p:txBody>
      </p:sp>
      <p:sp>
        <p:nvSpPr>
          <p:cNvPr id="5" name="cover-title"/>
          <p:cNvSpPr txBox="1"/>
          <p:nvPr/>
        </p:nvSpPr>
        <p:spPr>
          <a:xfrm>
            <a:off x="7569200" y="2489200"/>
            <a:ext cx="44704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98000"/>
              </a:lnSpc>
            </a:pPr>
            <a:r>
              <a:rPr lang="en-US" sz="9400" noProof="1" b="1" spc="-200" kern="0">
                <a:solidFill>
                  <a:srgbClr val="FFFFFF"/>
                </a:solidFill>
                <a:latin typeface="MiSans"/>
                <a:ea typeface="MiSans"/>
              </a:rPr>
              <a:t>NAJA</a:t>
            </a:r>
            <a:endParaRPr lang="en-US" sz="9400" noProof="1"/>
          </a:p>
          <a:p>
            <a:pPr algn="l">
              <a:lnSpc>
                <a:spcPct val="98000"/>
              </a:lnSpc>
            </a:pPr>
            <a:r>
              <a:rPr lang="en-US" sz="9400" noProof="1" b="1" spc="-200" kern="0">
                <a:solidFill>
                  <a:srgbClr val="FFFFFF"/>
                </a:solidFill>
                <a:latin typeface="MiSans"/>
                <a:ea typeface="MiSans"/>
              </a:rPr>
              <a:t>SAFETY</a:t>
            </a:r>
            <a:endParaRPr lang="en-US" sz="9400" noProof="1"/>
          </a:p>
        </p:txBody>
      </p:sp>
      <p:sp>
        <p:nvSpPr>
          <p:cNvPr id="6" name="cover-subtitle"/>
          <p:cNvSpPr txBox="1"/>
          <p:nvPr/>
        </p:nvSpPr>
        <p:spPr>
          <a:xfrm>
            <a:off x="7620000" y="52832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FFFFFF"/>
                </a:solidFill>
                <a:latin typeface="MiSans"/>
                <a:ea typeface="MiSans"/>
              </a:rPr>
              <a:t>Occupational Safety &amp; Health Training · Johor Bahru</a:t>
            </a:r>
            <a:endParaRPr lang="en-US" sz="1300" noProof="1"/>
          </a:p>
        </p:txBody>
      </p:sp>
      <p:sp>
        <p:nvSpPr>
          <p:cNvPr id="7" name="cover-doctitle"/>
          <p:cNvSpPr txBox="1"/>
          <p:nvPr/>
        </p:nvSpPr>
        <p:spPr>
          <a:xfrm>
            <a:off x="7620000" y="59690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 b="1" spc="100" kern="0">
                <a:solidFill>
                  <a:srgbClr val="FFFFFF">
                    <a:alpha val="65098"/>
                  </a:srgbClr>
                </a:solidFill>
                <a:latin typeface="MiSans"/>
                <a:ea typeface="MiSans"/>
              </a:rPr>
              <a:t>COMPANY PROFILE &amp; CAPABILITY STATEMENT — SEPTEMBER 2026</a:t>
            </a:r>
            <a:endParaRPr lang="en-US" sz="1000" noProof="1"/>
          </a:p>
        </p:txBody>
      </p:sp>
      <p:sp>
        <p:nvSpPr>
          <p:cNvPr id="8" name="stripe-r1"/>
          <p:cNvSpPr/>
          <p:nvPr/>
        </p:nvSpPr>
        <p:spPr>
          <a:xfrm>
            <a:off x="10972800" y="6045200"/>
            <a:ext cx="330200" cy="812800"/>
          </a:xfrm>
          <a:prstGeom prst="rect">
            <a:avLst/>
          </a:prstGeom>
          <a:solidFill>
            <a:srgbClr val="EF1722"/>
          </a:solidFill>
          <a:ln>
            <a:noFill/>
          </a:ln>
        </p:spPr>
      </p:sp>
      <p:sp>
        <p:nvSpPr>
          <p:cNvPr id="9" name="stripe-m1"/>
          <p:cNvSpPr/>
          <p:nvPr/>
        </p:nvSpPr>
        <p:spPr>
          <a:xfrm>
            <a:off x="11404600" y="6350000"/>
            <a:ext cx="101600" cy="508000"/>
          </a:xfrm>
          <a:prstGeom prst="rect">
            <a:avLst/>
          </a:prstGeom>
          <a:solidFill>
            <a:srgbClr val="FD1AEE"/>
          </a:solidFill>
          <a:ln>
            <a:noFill/>
          </a:ln>
        </p:spPr>
      </p:sp>
      <p:sp>
        <p:nvSpPr>
          <p:cNvPr id="10" name="stripe-r2"/>
          <p:cNvSpPr/>
          <p:nvPr/>
        </p:nvSpPr>
        <p:spPr>
          <a:xfrm>
            <a:off x="11607800" y="6197600"/>
            <a:ext cx="330200" cy="660400"/>
          </a:xfrm>
          <a:prstGeom prst="rect">
            <a:avLst/>
          </a:prstGeom>
          <a:solidFill>
            <a:srgbClr val="EF1722"/>
          </a:solidFill>
          <a:ln>
            <a:noFill/>
          </a:ln>
        </p:spPr>
      </p:sp>
      <p:sp>
        <p:nvSpPr>
          <p:cNvPr id="11" name="stripe-m2"/>
          <p:cNvSpPr/>
          <p:nvPr/>
        </p:nvSpPr>
        <p:spPr>
          <a:xfrm>
            <a:off x="12014200" y="6477000"/>
            <a:ext cx="101600" cy="381000"/>
          </a:xfrm>
          <a:prstGeom prst="rect">
            <a:avLst/>
          </a:prstGeom>
          <a:solidFill>
            <a:srgbClr val="FD1AEE"/>
          </a:solidFill>
          <a:ln>
            <a:noFill/>
          </a:ln>
        </p:spPr>
      </p:sp>
      <p:sp>
        <p:nvSpPr>
          <p:cNvPr id="12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/>
                </a:solidFill>
                <a:latin typeface="MiSans"/>
                <a:ea typeface="MiSans"/>
              </a:rPr>
              <a:t>01 / 14</a:t>
            </a:r>
            <a:endParaRPr lang="en-US" sz="1000" noProof="1"/>
          </a:p>
        </p:txBody>
      </p:sp>
      <p:sp>
        <p:nvSpPr>
          <p:cNvPr id="13" name="side-index"/>
          <p:cNvSpPr txBox="1"/>
          <p:nvPr/>
        </p:nvSpPr>
        <p:spPr>
          <a:xfrm>
            <a:off x="12039600" y="3048000"/>
            <a:ext cx="15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01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31087" r="31087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6858000" y="6299200"/>
            <a:ext cx="53340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7010400" y="6502400"/>
            <a:ext cx="502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Full group in PPE at a client warehouse, 2020.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REGISTRATION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08000" y="736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02000"/>
              </a:lnSpc>
            </a:pPr>
            <a:r>
              <a:rPr lang="en-US" sz="4000" noProof="1" b="1" spc="-100" kern="0">
                <a:solidFill>
                  <a:srgbClr val="FFFFFF"/>
                </a:solidFill>
                <a:latin typeface="MiSans"/>
                <a:ea typeface="MiSans"/>
              </a:rPr>
              <a:t>Company particulars</a:t>
            </a:r>
            <a:endParaRPr lang="en-US" sz="4000" noProof="1"/>
          </a:p>
        </p:txBody>
      </p:sp>
      <p:graphicFrame>
        <p:nvGraphicFramePr>
          <p:cNvPr id="11" name="data-table"/>
          <p:cNvGraphicFramePr>
            <a:graphicFrameLocks noGrp="1"/>
          </p:cNvGraphicFramePr>
          <p:nvPr/>
        </p:nvGraphicFramePr>
        <p:xfrm>
          <a:off x="508000" y="1574800"/>
          <a:ext cx="6096000" cy="4191000"/>
        </p:xfrm>
        <a:graphic>
          <a:graphicData uri="http://schemas.openxmlformats.org/drawingml/2006/table">
            <a:tbl>
              <a:tblPr/>
              <a:tblGrid>
                <a:gridCol w="1097280"/>
                <a:gridCol w="1950720"/>
                <a:gridCol w="1036320"/>
                <a:gridCol w="2011680"/>
              </a:tblGrid>
              <a:tr h="67056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5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REGISTERED NAME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NAJA SAFETY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REGISTERED ADDRESS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09-03, Blok C, Kompleks Austin Perdana, Taman Mount Austin, 81100 Johor Bahru, Johor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4610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5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REGISTRATION NO.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200603041203 (JM0449867-U)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CONTACT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James Issachar · 016-730 1802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448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5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REGISTERED UNDER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Registration of Businesses Act 1956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EMAIL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najasafety@gmail.com </a:t>
                      </a:r>
                      <a:r>
                        <a:rPr lang="en-US" sz="1000" noProof="1">
                          <a:solidFill>
                            <a:srgbClr val="FFFFFF"/>
                          </a:solidFill>
                          <a:highlight>
                            <a:srgbClr val="FFFFFF">
                              <a:alpha val="14902"/>
                            </a:srgbClr>
                          </a:highlight>
                          <a:latin typeface="Times New Roman"/>
                          <a:ea typeface="Times New Roman"/>
                        </a:rPr>
                        <a:t>[DECIDE: domain email]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5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CERTIFICATE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Borang D (Perakuan Pendaftaran)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SERVICE AREA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Nationwide — freelance trainer network, incl. Sabah &amp; Sarawak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4610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5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REGISTERED UNTIL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14 July 2031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BANK DETAILS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highlight>
                            <a:srgbClr val="FFFFFF">
                              <a:alpha val="14902"/>
                            </a:srgbClr>
                          </a:highlight>
                          <a:latin typeface="Times New Roman"/>
                          <a:ea typeface="Times New Roman"/>
                        </a:rPr>
                        <a:t>[INSERT: bank name, account name, account number]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4610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5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Sole proprietorship — branches: none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SST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highlight>
                            <a:srgbClr val="FFFFFF">
                              <a:alpha val="14902"/>
                            </a:srgbClr>
                          </a:highlight>
                          <a:latin typeface="Times New Roman"/>
                          <a:ea typeface="Times New Roman"/>
                        </a:rPr>
                        <a:t>[VERIFY: registered — yes/no + number]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5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YEAR ESTABLISHED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2006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INSURANCE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highlight>
                            <a:srgbClr val="FFFFFF">
                              <a:alpha val="14902"/>
                            </a:srgbClr>
                          </a:highlight>
                          <a:latin typeface="Times New Roman"/>
                          <a:ea typeface="Times New Roman"/>
                        </a:rPr>
                        <a:t>[PENDING: policy number and insurer]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867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5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PRINCIPAL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James Issachar A/L Daniel, Director &amp; Lead Trainer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DOCUMENT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Company Profile &amp; Capability Statement — Sep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footnote"/>
          <p:cNvSpPr txBox="1"/>
          <p:nvPr/>
        </p:nvSpPr>
        <p:spPr>
          <a:xfrm>
            <a:off x="508000" y="5842000"/>
            <a:ext cx="609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Bracketed [ ] items are pending confirmation before this document is circulated.</a:t>
            </a:r>
            <a:endParaRPr lang="en-US" sz="900" noProof="1"/>
          </a:p>
        </p:txBody>
      </p:sp>
      <p:sp>
        <p:nvSpPr>
          <p:cNvPr id="13" name="lab-1"/>
          <p:cNvSpPr/>
          <p:nvPr/>
        </p:nvSpPr>
        <p:spPr>
          <a:xfrm>
            <a:off x="508000" y="6146800"/>
            <a:ext cx="1778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4" name="lab-1-t"/>
          <p:cNvSpPr txBox="1"/>
          <p:nvPr/>
        </p:nvSpPr>
        <p:spPr>
          <a:xfrm>
            <a:off x="508000" y="61468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SOLE PROPRIETORSHIP</a:t>
            </a:r>
            <a:endParaRPr lang="en-US" sz="1000" noProof="1"/>
          </a:p>
        </p:txBody>
      </p:sp>
      <p:sp>
        <p:nvSpPr>
          <p:cNvPr id="15" name="lab-2"/>
          <p:cNvSpPr/>
          <p:nvPr/>
        </p:nvSpPr>
        <p:spPr>
          <a:xfrm>
            <a:off x="2413000" y="6146800"/>
            <a:ext cx="9144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6" name="lab-2-t"/>
          <p:cNvSpPr txBox="1"/>
          <p:nvPr/>
        </p:nvSpPr>
        <p:spPr>
          <a:xfrm>
            <a:off x="2413000" y="61468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BORANG D</a:t>
            </a:r>
            <a:endParaRPr lang="en-US" sz="1000" noProof="1"/>
          </a:p>
        </p:txBody>
      </p:sp>
      <p:sp>
        <p:nvSpPr>
          <p:cNvPr id="17" name="lab-3"/>
          <p:cNvSpPr/>
          <p:nvPr/>
        </p:nvSpPr>
        <p:spPr>
          <a:xfrm>
            <a:off x="3454400" y="6146800"/>
            <a:ext cx="2133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8" name="lab-3-t"/>
          <p:cNvSpPr txBox="1"/>
          <p:nvPr/>
        </p:nvSpPr>
        <p:spPr>
          <a:xfrm>
            <a:off x="3454400" y="61468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REG. 200603041203</a:t>
            </a:r>
            <a:endParaRPr lang="en-US" sz="1000" noProof="1"/>
          </a:p>
        </p:txBody>
      </p:sp>
      <p:sp>
        <p:nvSpPr>
          <p:cNvPr id="19" name="lab-4"/>
          <p:cNvSpPr/>
          <p:nvPr/>
        </p:nvSpPr>
        <p:spPr>
          <a:xfrm>
            <a:off x="5715000" y="6146800"/>
            <a:ext cx="889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0" name="lab-4-t"/>
          <p:cNvSpPr txBox="1"/>
          <p:nvPr/>
        </p:nvSpPr>
        <p:spPr>
          <a:xfrm>
            <a:off x="5715000" y="61468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EST. 2006</a:t>
            </a:r>
            <a:endParaRPr lang="en-US" sz="1000" noProof="1"/>
          </a:p>
        </p:txBody>
      </p:sp>
      <p:sp>
        <p:nvSpPr>
          <p:cNvPr id="21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02 / 14</a:t>
            </a:r>
            <a:endParaRPr lang="en-US" sz="1000" noProof="1"/>
          </a:p>
        </p:txBody>
      </p:sp>
      <p:sp>
        <p:nvSpPr>
          <p:cNvPr id="22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12000"/>
          <a:stretch>
            <a:fillRect/>
          </a:stretch>
        </p:blipFill>
        <p:spPr>
          <a:xfrm>
            <a:off x="0" y="0"/>
            <a:ext cx="53594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0" y="6299200"/>
            <a:ext cx="53594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1397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James Issachar on a client construction site.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ABOUT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969000" y="1219200"/>
            <a:ext cx="5715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2000"/>
              </a:lnSpc>
            </a:pPr>
            <a:r>
              <a:rPr lang="en-US" sz="4200" noProof="1" b="1" spc="-100" kern="0">
                <a:solidFill>
                  <a:srgbClr val="FFFFFF"/>
                </a:solidFill>
                <a:latin typeface="MiSans"/>
                <a:ea typeface="MiSans"/>
              </a:rPr>
              <a:t>The practitioner behind the training</a:t>
            </a:r>
            <a:endParaRPr lang="en-US" sz="4200" noProof="1"/>
          </a:p>
        </p:txBody>
      </p:sp>
      <p:sp>
        <p:nvSpPr>
          <p:cNvPr id="11" name="stat-num"/>
          <p:cNvSpPr txBox="1"/>
          <p:nvPr/>
        </p:nvSpPr>
        <p:spPr>
          <a:xfrm>
            <a:off x="5969000" y="26670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600" noProof="1" b="1" spc="-100" kern="0">
                <a:solidFill>
                  <a:srgbClr val="FFFFFF"/>
                </a:solidFill>
                <a:latin typeface="MiSans"/>
                <a:ea typeface="MiSans"/>
              </a:rPr>
              <a:t>20+</a:t>
            </a:r>
            <a:endParaRPr lang="en-US" sz="5600" noProof="1"/>
          </a:p>
        </p:txBody>
      </p:sp>
      <p:sp>
        <p:nvSpPr>
          <p:cNvPr id="12" name="stat-cap"/>
          <p:cNvSpPr txBox="1"/>
          <p:nvPr/>
        </p:nvSpPr>
        <p:spPr>
          <a:xfrm>
            <a:off x="8001000" y="2768600"/>
            <a:ext cx="368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FFFFFF">
                    <a:alpha val="65098"/>
                  </a:srgbClr>
                </a:solidFill>
                <a:latin typeface="MiSans"/>
                <a:ea typeface="MiSans"/>
              </a:rPr>
              <a:t>years in the field — James Issachar has practised as an OSH consultant since May 2006</a:t>
            </a:r>
            <a:endParaRPr lang="en-US" sz="1000" noProof="1"/>
          </a:p>
        </p:txBody>
      </p:sp>
      <p:sp>
        <p:nvSpPr>
          <p:cNvPr id="13" name="body"/>
          <p:cNvSpPr txBox="1"/>
          <p:nvPr/>
        </p:nvSpPr>
        <p:spPr>
          <a:xfrm>
            <a:off x="5969000" y="3810000"/>
            <a:ext cx="5715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James Issachar A/L Daniel began at NIOSH as a vocational trainee. The two decades since have been spent on Malaysian manufacturing floors and construction sites.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Training and safety support are delivered through a freelance trainer network built over the same period.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He chairs Pertubuhan Kebajikan Shechinah Johor Bahru, a registered welfare charity founded in 2018.</a:t>
            </a:r>
            <a:endParaRPr lang="en-US" sz="1200" noProof="1"/>
          </a:p>
        </p:txBody>
      </p:sp>
      <p:sp>
        <p:nvSpPr>
          <p:cNvPr id="14" name="lab-1"/>
          <p:cNvSpPr/>
          <p:nvPr/>
        </p:nvSpPr>
        <p:spPr>
          <a:xfrm>
            <a:off x="5969000" y="5969000"/>
            <a:ext cx="2260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5" name="lab-1-t"/>
          <p:cNvSpPr txBox="1"/>
          <p:nvPr/>
        </p:nvSpPr>
        <p:spPr>
          <a:xfrm>
            <a:off x="5969000" y="5969000"/>
            <a:ext cx="2260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OSH CONSULTANT SINCE 2006</a:t>
            </a:r>
            <a:endParaRPr lang="en-US" sz="1000" noProof="1"/>
          </a:p>
        </p:txBody>
      </p:sp>
      <p:sp>
        <p:nvSpPr>
          <p:cNvPr id="16" name="lab-2"/>
          <p:cNvSpPr/>
          <p:nvPr/>
        </p:nvSpPr>
        <p:spPr>
          <a:xfrm>
            <a:off x="8356600" y="5969000"/>
            <a:ext cx="1625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7" name="lab-2-t"/>
          <p:cNvSpPr txBox="1"/>
          <p:nvPr/>
        </p:nvSpPr>
        <p:spPr>
          <a:xfrm>
            <a:off x="8356600" y="5969000"/>
            <a:ext cx="162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BEGAN AT NIOSH</a:t>
            </a:r>
            <a:endParaRPr lang="en-US" sz="1000" noProof="1"/>
          </a:p>
        </p:txBody>
      </p:sp>
      <p:sp>
        <p:nvSpPr>
          <p:cNvPr id="18" name="lab-3"/>
          <p:cNvSpPr/>
          <p:nvPr/>
        </p:nvSpPr>
        <p:spPr>
          <a:xfrm>
            <a:off x="10109200" y="5969000"/>
            <a:ext cx="15748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9" name="lab-3-t"/>
          <p:cNvSpPr txBox="1"/>
          <p:nvPr/>
        </p:nvSpPr>
        <p:spPr>
          <a:xfrm>
            <a:off x="10109200" y="5969000"/>
            <a:ext cx="157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CHARITY · EST. 2018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03 / 14</a:t>
            </a:r>
            <a:endParaRPr lang="en-US" sz="1000" noProof="1"/>
          </a:p>
        </p:txBody>
      </p:sp>
      <p:sp>
        <p:nvSpPr>
          <p:cNvPr id="21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rt"/>
          <p:cNvPicPr/>
          <p:nvPr/>
        </p:nvPicPr>
        <p:blipFill>
          <a:blip r:embed="rId2"/>
          <a:srcRect l="-11124" r="-11124"/>
          <a:stretch>
            <a:fillRect/>
          </a:stretch>
        </p:blipFill>
        <p:spPr>
          <a:xfrm>
            <a:off x="0" y="609600"/>
            <a:ext cx="5359400" cy="62484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ACCREDITATION · 1 OF 2</a:t>
            </a:r>
            <a:endParaRPr lang="en-US" sz="1000" noProof="1"/>
          </a:p>
        </p:txBody>
      </p:sp>
      <p:sp>
        <p:nvSpPr>
          <p:cNvPr id="5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6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7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8" name="title"/>
          <p:cNvSpPr txBox="1"/>
          <p:nvPr/>
        </p:nvSpPr>
        <p:spPr>
          <a:xfrm>
            <a:off x="5969000" y="965200"/>
            <a:ext cx="5715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2000"/>
              </a:lnSpc>
            </a:pPr>
            <a:r>
              <a:rPr lang="en-US" sz="3800" noProof="1" b="1" spc="-100" kern="0">
                <a:solidFill>
                  <a:srgbClr val="FFFFFF"/>
                </a:solidFill>
                <a:latin typeface="MiSans"/>
                <a:ea typeface="MiSans"/>
              </a:rPr>
              <a:t>Accredited for the CIDB safety induction</a:t>
            </a:r>
            <a:endParaRPr lang="en-US" sz="3800" noProof="1"/>
          </a:p>
        </p:txBody>
      </p:sp>
      <p:sp>
        <p:nvSpPr>
          <p:cNvPr id="9" name="b1-label"/>
          <p:cNvSpPr txBox="1"/>
          <p:nvPr/>
        </p:nvSpPr>
        <p:spPr>
          <a:xfrm>
            <a:off x="5969000" y="23876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PERAKUAN PENTAULIAHAN · HOLDER: NAJA SAFETY</a:t>
            </a:r>
            <a:endParaRPr lang="en-US" sz="900" noProof="1"/>
          </a:p>
        </p:txBody>
      </p:sp>
      <p:sp>
        <p:nvSpPr>
          <p:cNvPr id="10" name="b1-text"/>
          <p:cNvSpPr txBox="1"/>
          <p:nvPr/>
        </p:nvSpPr>
        <p:spPr>
          <a:xfrm>
            <a:off x="5969000" y="2616200"/>
            <a:ext cx="571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No. PLSICW20231022-068 · Valid 18 July 2025 – 17 July 2027</a:t>
            </a:r>
            <a:endParaRPr lang="en-US" sz="1200" noProof="1"/>
          </a:p>
        </p:txBody>
      </p:sp>
      <p:sp>
        <p:nvSpPr>
          <p:cNvPr id="11" name="b2-label"/>
          <p:cNvSpPr txBox="1"/>
          <p:nvPr/>
        </p:nvSpPr>
        <p:spPr>
          <a:xfrm>
            <a:off x="5969000" y="31242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SCOPE</a:t>
            </a:r>
            <a:endParaRPr lang="en-US" sz="900" noProof="1"/>
          </a:p>
        </p:txBody>
      </p:sp>
      <p:sp>
        <p:nvSpPr>
          <p:cNvPr id="12" name="b2-text"/>
          <p:cNvSpPr txBox="1"/>
          <p:nvPr/>
        </p:nvSpPr>
        <p:spPr>
          <a:xfrm>
            <a:off x="5969000" y="33528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Kursus Induksi Keselamatan Bagi Pekerja Binaan — the Safety Induction Course for Construction Workers (SICW / "Green Card").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This course only. The accreditation does not extend to any other construction safety programme.</a:t>
            </a:r>
            <a:endParaRPr lang="en-US" sz="1200" noProof="1"/>
          </a:p>
        </p:txBody>
      </p:sp>
      <p:sp>
        <p:nvSpPr>
          <p:cNvPr id="13" name="b3-label"/>
          <p:cNvSpPr txBox="1"/>
          <p:nvPr/>
        </p:nvSpPr>
        <p:spPr>
          <a:xfrm>
            <a:off x="5969000" y="46482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THE GREEN CARD</a:t>
            </a:r>
            <a:endParaRPr lang="en-US" sz="900" noProof="1"/>
          </a:p>
        </p:txBody>
      </p:sp>
      <p:sp>
        <p:nvSpPr>
          <p:cNvPr id="14" name="b3-text"/>
          <p:cNvSpPr txBox="1"/>
          <p:nvPr/>
        </p:nvSpPr>
        <p:spPr>
          <a:xfrm>
            <a:off x="5969000" y="4876800"/>
            <a:ext cx="571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Workers who complete the induction are eligible for the CIDB Green Card. CIDB issues the card — Naja Safety does not.</a:t>
            </a:r>
            <a:endParaRPr lang="en-US" sz="1200" noProof="1"/>
          </a:p>
        </p:txBody>
      </p:sp>
      <p:sp>
        <p:nvSpPr>
          <p:cNvPr id="15" name="footnote"/>
          <p:cNvSpPr txBox="1"/>
          <p:nvPr/>
        </p:nvSpPr>
        <p:spPr>
          <a:xfrm>
            <a:off x="5969000" y="5588000"/>
            <a:ext cx="5715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Course context: cidbholdings.com.my — CIDB Green Card course (e-SICW).</a:t>
            </a:r>
            <a:endParaRPr lang="en-US" sz="900" noProof="1"/>
          </a:p>
        </p:txBody>
      </p:sp>
      <p:sp>
        <p:nvSpPr>
          <p:cNvPr id="16" name="lab-1"/>
          <p:cNvSpPr/>
          <p:nvPr/>
        </p:nvSpPr>
        <p:spPr>
          <a:xfrm>
            <a:off x="5969000" y="5969000"/>
            <a:ext cx="2032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7" name="lab-1-t"/>
          <p:cNvSpPr txBox="1"/>
          <p:nvPr/>
        </p:nvSpPr>
        <p:spPr>
          <a:xfrm>
            <a:off x="5969000" y="5969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PLSICW20231022-068</a:t>
            </a:r>
            <a:endParaRPr lang="en-US" sz="1000" noProof="1"/>
          </a:p>
        </p:txBody>
      </p:sp>
      <p:sp>
        <p:nvSpPr>
          <p:cNvPr id="18" name="lab-2"/>
          <p:cNvSpPr/>
          <p:nvPr/>
        </p:nvSpPr>
        <p:spPr>
          <a:xfrm>
            <a:off x="8128000" y="5969000"/>
            <a:ext cx="16764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9" name="lab-2-t"/>
          <p:cNvSpPr txBox="1"/>
          <p:nvPr/>
        </p:nvSpPr>
        <p:spPr>
          <a:xfrm>
            <a:off x="8128000" y="59690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SICW · GREEN CARD</a:t>
            </a:r>
            <a:endParaRPr lang="en-US" sz="1000" noProof="1"/>
          </a:p>
        </p:txBody>
      </p:sp>
      <p:sp>
        <p:nvSpPr>
          <p:cNvPr id="20" name="lab-3"/>
          <p:cNvSpPr/>
          <p:nvPr/>
        </p:nvSpPr>
        <p:spPr>
          <a:xfrm>
            <a:off x="9931400" y="5969000"/>
            <a:ext cx="1752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1" name="lab-3-t"/>
          <p:cNvSpPr txBox="1"/>
          <p:nvPr/>
        </p:nvSpPr>
        <p:spPr>
          <a:xfrm>
            <a:off x="9931400" y="59690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VALID TO 17 JUL 2027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04 / 14</a:t>
            </a:r>
            <a:endParaRPr lang="en-US" sz="1000" noProof="1"/>
          </a:p>
        </p:txBody>
      </p:sp>
      <p:sp>
        <p:nvSpPr>
          <p:cNvPr id="23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rt"/>
          <p:cNvPicPr/>
          <p:nvPr/>
        </p:nvPicPr>
        <p:blipFill>
          <a:blip r:embed="rId2"/>
          <a:srcRect l="-9756" r="-9756"/>
          <a:stretch>
            <a:fillRect/>
          </a:stretch>
        </p:blipFill>
        <p:spPr>
          <a:xfrm>
            <a:off x="6858000" y="609600"/>
            <a:ext cx="5334000" cy="62484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ACCREDITATION · 2 OF 2</a:t>
            </a:r>
            <a:endParaRPr lang="en-US" sz="1000" noProof="1"/>
          </a:p>
        </p:txBody>
      </p:sp>
      <p:sp>
        <p:nvSpPr>
          <p:cNvPr id="5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6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7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8" name="title"/>
          <p:cNvSpPr txBox="1"/>
          <p:nvPr/>
        </p:nvSpPr>
        <p:spPr>
          <a:xfrm>
            <a:off x="508000" y="965200"/>
            <a:ext cx="584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2000"/>
              </a:lnSpc>
            </a:pPr>
            <a:r>
              <a:rPr lang="en-US" sz="3800" noProof="1" b="1" spc="-100" kern="0">
                <a:solidFill>
                  <a:srgbClr val="FFFFFF"/>
                </a:solidFill>
                <a:latin typeface="MiSans"/>
                <a:ea typeface="MiSans"/>
              </a:rPr>
              <a:t>HRD Corp Accredited Trainer</a:t>
            </a:r>
            <a:endParaRPr lang="en-US" sz="3800" noProof="1"/>
          </a:p>
        </p:txBody>
      </p:sp>
      <p:sp>
        <p:nvSpPr>
          <p:cNvPr id="9" name="b1-label"/>
          <p:cNvSpPr txBox="1"/>
          <p:nvPr/>
        </p:nvSpPr>
        <p:spPr>
          <a:xfrm>
            <a:off x="508000" y="1930400"/>
            <a:ext cx="584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HOLDER</a:t>
            </a:r>
            <a:endParaRPr lang="en-US" sz="900" noProof="1"/>
          </a:p>
        </p:txBody>
      </p:sp>
      <p:sp>
        <p:nvSpPr>
          <p:cNvPr id="10" name="b1-text"/>
          <p:cNvSpPr txBox="1"/>
          <p:nvPr/>
        </p:nvSpPr>
        <p:spPr>
          <a:xfrm>
            <a:off x="508000" y="21590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James Issachar A/L Daniel — Trainer ID 62976. Valid 23 December 2025 – 23 December 2028.</a:t>
            </a:r>
            <a:endParaRPr lang="en-US" sz="1200" noProof="1"/>
          </a:p>
        </p:txBody>
      </p:sp>
      <p:sp>
        <p:nvSpPr>
          <p:cNvPr id="11" name="b2-label"/>
          <p:cNvSpPr txBox="1"/>
          <p:nvPr/>
        </p:nvSpPr>
        <p:spPr>
          <a:xfrm>
            <a:off x="508000" y="2844800"/>
            <a:ext cx="584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STATUS</a:t>
            </a:r>
            <a:endParaRPr lang="en-US" sz="900" noProof="1"/>
          </a:p>
        </p:txBody>
      </p:sp>
      <p:sp>
        <p:nvSpPr>
          <p:cNvPr id="12" name="b2-text"/>
          <p:cNvSpPr txBox="1"/>
          <p:nvPr/>
        </p:nvSpPr>
        <p:spPr>
          <a:xfrm>
            <a:off x="508000" y="3073400"/>
            <a:ext cx="584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This is a personal trainer accreditation held by the principal. It is not a company-level training-provider registration.</a:t>
            </a:r>
            <a:endParaRPr lang="en-US" sz="1200" noProof="1"/>
          </a:p>
        </p:txBody>
      </p:sp>
      <p:sp>
        <p:nvSpPr>
          <p:cNvPr id="13" name="b3-label"/>
          <p:cNvSpPr txBox="1"/>
          <p:nvPr/>
        </p:nvSpPr>
        <p:spPr>
          <a:xfrm>
            <a:off x="508000" y="3810000"/>
            <a:ext cx="584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WHAT IT MEANS FOR TRAINING</a:t>
            </a:r>
            <a:endParaRPr lang="en-US" sz="900" noProof="1"/>
          </a:p>
        </p:txBody>
      </p:sp>
      <p:sp>
        <p:nvSpPr>
          <p:cNvPr id="14" name="b3-text"/>
          <p:cNvSpPr txBox="1"/>
          <p:nvPr/>
        </p:nvSpPr>
        <p:spPr>
          <a:xfrm>
            <a:off x="508000" y="4038600"/>
            <a:ext cx="584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Training is delivered by an HRD Corp Accredited Trainer (ID 62976). Programmes are structured for HRD Corp claimability, subject to the employer's levy balance and grant approval.</a:t>
            </a:r>
            <a:endParaRPr lang="en-US" sz="1200" noProof="1"/>
          </a:p>
        </p:txBody>
      </p:sp>
      <p:sp>
        <p:nvSpPr>
          <p:cNvPr id="15" name="verify-box"/>
          <p:cNvSpPr/>
          <p:nvPr/>
        </p:nvSpPr>
        <p:spPr>
          <a:xfrm>
            <a:off x="508000" y="5105400"/>
            <a:ext cx="5842000" cy="381000"/>
          </a:xfrm>
          <a:prstGeom prst="rect">
            <a:avLst/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6" name="verify-text"/>
          <p:cNvSpPr txBox="1"/>
          <p:nvPr/>
        </p:nvSpPr>
        <p:spPr>
          <a:xfrm>
            <a:off x="660400" y="5105400"/>
            <a:ext cx="5537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[VERIFY: E-TRIS PROVIDER REGISTRATION — COMPANY LEVEL]</a:t>
            </a:r>
            <a:endParaRPr lang="en-US" sz="1000" noProof="1"/>
          </a:p>
        </p:txBody>
      </p:sp>
      <p:sp>
        <p:nvSpPr>
          <p:cNvPr id="17" name="lab-1"/>
          <p:cNvSpPr/>
          <p:nvPr/>
        </p:nvSpPr>
        <p:spPr>
          <a:xfrm>
            <a:off x="508000" y="5969000"/>
            <a:ext cx="1651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8" name="lab-1-t"/>
          <p:cNvSpPr txBox="1"/>
          <p:nvPr/>
        </p:nvSpPr>
        <p:spPr>
          <a:xfrm>
            <a:off x="508000" y="59690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TRAINER ID 62976</a:t>
            </a:r>
            <a:endParaRPr lang="en-US" sz="1000" noProof="1"/>
          </a:p>
        </p:txBody>
      </p:sp>
      <p:sp>
        <p:nvSpPr>
          <p:cNvPr id="19" name="lab-2"/>
          <p:cNvSpPr/>
          <p:nvPr/>
        </p:nvSpPr>
        <p:spPr>
          <a:xfrm>
            <a:off x="2286000" y="5969000"/>
            <a:ext cx="1879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0" name="lab-2-t"/>
          <p:cNvSpPr txBox="1"/>
          <p:nvPr/>
        </p:nvSpPr>
        <p:spPr>
          <a:xfrm>
            <a:off x="2286000" y="5969000"/>
            <a:ext cx="1879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VALID TO 23 DEC 2028</a:t>
            </a:r>
            <a:endParaRPr lang="en-US" sz="1000" noProof="1"/>
          </a:p>
        </p:txBody>
      </p:sp>
      <p:sp>
        <p:nvSpPr>
          <p:cNvPr id="21" name="lab-3"/>
          <p:cNvSpPr/>
          <p:nvPr/>
        </p:nvSpPr>
        <p:spPr>
          <a:xfrm>
            <a:off x="4292600" y="5969000"/>
            <a:ext cx="23114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2" name="lab-3-t"/>
          <p:cNvSpPr txBox="1"/>
          <p:nvPr/>
        </p:nvSpPr>
        <p:spPr>
          <a:xfrm>
            <a:off x="4292600" y="5969000"/>
            <a:ext cx="2311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PERSONAL ACCREDITATION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05 / 14</a:t>
            </a:r>
            <a:endParaRPr lang="en-US" sz="1000" noProof="1"/>
          </a:p>
        </p:txBody>
      </p:sp>
      <p:sp>
        <p:nvSpPr>
          <p:cNvPr id="24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31087" r="31087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6858000" y="6299200"/>
            <a:ext cx="53340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7010400" y="6502400"/>
            <a:ext cx="502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Forklift safety briefing, 2021.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PROGRAMMES · 1 OF 3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08000" y="736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02000"/>
              </a:lnSpc>
            </a:pPr>
            <a:r>
              <a:rPr lang="en-US" sz="3800" noProof="1" b="1" spc="-100" kern="0">
                <a:solidFill>
                  <a:srgbClr val="FFFFFF"/>
                </a:solidFill>
                <a:latin typeface="MiSans"/>
                <a:ea typeface="MiSans"/>
              </a:rPr>
              <a:t>Core compliance programmes</a:t>
            </a:r>
            <a:endParaRPr lang="en-US" sz="3800" noProof="1"/>
          </a:p>
        </p:txBody>
      </p:sp>
      <p:graphicFrame>
        <p:nvGraphicFramePr>
          <p:cNvPr id="11" name="prog-table"/>
          <p:cNvGraphicFramePr>
            <a:graphicFrameLocks noGrp="1"/>
          </p:cNvGraphicFramePr>
          <p:nvPr/>
        </p:nvGraphicFramePr>
        <p:xfrm>
          <a:off x="508000" y="1574800"/>
          <a:ext cx="6096000" cy="42672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2621280"/>
              </a:tblGrid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PROGRAMME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NOTES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76809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OSH Coordinator (Section 29A) preparation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2–5 days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Prepares the employer's appointed employee </a:t>
                      </a:r>
                      <a:r>
                        <a:rPr lang="en-US" sz="1000" noProof="1">
                          <a:solidFill>
                            <a:srgbClr val="FFFFFF"/>
                          </a:solidFill>
                          <a:highlight>
                            <a:srgbClr val="FFFFFF">
                              <a:alpha val="14902"/>
                            </a:srgbClr>
                          </a:highlight>
                          <a:latin typeface="Times New Roman"/>
                          <a:ea typeface="Times New Roman"/>
                        </a:rPr>
                        <a:t>[VERIFY: DOSH provider registration]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68275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CIDB Green Card induction (SICW)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 day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Under PLSICW20231022-068 · priced per group-day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9740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Safety induction &amp; awareness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 day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9740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HIRARC &amp; risk management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 day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Output is a register the client keeps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9740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Safety &amp; Health Committee training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2 days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Statutory driver: 40+ workers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9740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Incident &amp; accident investigation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 day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lab-1"/>
          <p:cNvSpPr/>
          <p:nvPr/>
        </p:nvSpPr>
        <p:spPr>
          <a:xfrm>
            <a:off x="508000" y="6070600"/>
            <a:ext cx="1498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3" name="lab-1-t"/>
          <p:cNvSpPr txBox="1"/>
          <p:nvPr/>
        </p:nvSpPr>
        <p:spPr>
          <a:xfrm>
            <a:off x="508000" y="60706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17 PROGRAMMES</a:t>
            </a:r>
            <a:endParaRPr lang="en-US" sz="1000" noProof="1"/>
          </a:p>
        </p:txBody>
      </p:sp>
      <p:sp>
        <p:nvSpPr>
          <p:cNvPr id="14" name="lab-2"/>
          <p:cNvSpPr/>
          <p:nvPr/>
        </p:nvSpPr>
        <p:spPr>
          <a:xfrm>
            <a:off x="2133600" y="6070600"/>
            <a:ext cx="1498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5" name="lab-2-t"/>
          <p:cNvSpPr txBox="1"/>
          <p:nvPr/>
        </p:nvSpPr>
        <p:spPr>
          <a:xfrm>
            <a:off x="2133600" y="60706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ON-SITE DELIVERY</a:t>
            </a:r>
            <a:endParaRPr lang="en-US" sz="1000" noProof="1"/>
          </a:p>
        </p:txBody>
      </p:sp>
      <p:sp>
        <p:nvSpPr>
          <p:cNvPr id="16" name="lab-3"/>
          <p:cNvSpPr/>
          <p:nvPr/>
        </p:nvSpPr>
        <p:spPr>
          <a:xfrm>
            <a:off x="3759200" y="6070600"/>
            <a:ext cx="1752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7" name="lab-3-t"/>
          <p:cNvSpPr txBox="1"/>
          <p:nvPr/>
        </p:nvSpPr>
        <p:spPr>
          <a:xfrm>
            <a:off x="3759200" y="60706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HRD CORP CLAIMABLE*</a:t>
            </a:r>
            <a:endParaRPr lang="en-US" sz="1000" noProof="1"/>
          </a:p>
        </p:txBody>
      </p:sp>
      <p:sp>
        <p:nvSpPr>
          <p:cNvPr id="18" name="lab-note"/>
          <p:cNvSpPr txBox="1"/>
          <p:nvPr/>
        </p:nvSpPr>
        <p:spPr>
          <a:xfrm>
            <a:off x="5638800" y="60706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*subject to grant approval</a:t>
            </a:r>
            <a:endParaRPr lang="en-US" sz="800" noProof="1"/>
          </a:p>
        </p:txBody>
      </p:sp>
      <p:sp>
        <p:nvSpPr>
          <p:cNvPr id="19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06 / 14</a:t>
            </a:r>
            <a:endParaRPr lang="en-US" sz="1000" noProof="1"/>
          </a:p>
        </p:txBody>
      </p:sp>
      <p:sp>
        <p:nvSpPr>
          <p:cNvPr id="20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20788" r="20788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6858000" y="6299200"/>
            <a:ext cx="53340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7010400" y="6502400"/>
            <a:ext cx="502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Site induction on rebar works.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PROGRAMMES · 2 OF 3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08000" y="736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02000"/>
              </a:lnSpc>
            </a:pPr>
            <a:r>
              <a:rPr lang="en-US" sz="3800" noProof="1" b="1" spc="-100" kern="0">
                <a:solidFill>
                  <a:srgbClr val="FFFFFF"/>
                </a:solidFill>
                <a:latin typeface="MiSans"/>
                <a:ea typeface="MiSans"/>
              </a:rPr>
              <a:t>Site and hazard programmes</a:t>
            </a:r>
            <a:endParaRPr lang="en-US" sz="3800" noProof="1"/>
          </a:p>
        </p:txBody>
      </p:sp>
      <p:graphicFrame>
        <p:nvGraphicFramePr>
          <p:cNvPr id="11" name="prog-table"/>
          <p:cNvGraphicFramePr>
            <a:graphicFrameLocks noGrp="1"/>
          </p:cNvGraphicFramePr>
          <p:nvPr/>
        </p:nvGraphicFramePr>
        <p:xfrm>
          <a:off x="508000" y="1574800"/>
          <a:ext cx="6096000" cy="42672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2621280"/>
              </a:tblGrid>
              <a:tr h="4267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PROGRAMME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NOTES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9740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Safety audit &amp; inspection techniques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2 days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Site safety management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2 days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Supervisor / manager audience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9740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Toolbox talk &amp; safety briefing skills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Half day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Working at Height — awareness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1–2 days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highlight>
                            <a:srgbClr val="FFFFFF">
                              <a:alpha val="14902"/>
                            </a:srgbClr>
                          </a:highlight>
                          <a:latin typeface="Times New Roman"/>
                          <a:ea typeface="Times New Roman"/>
                        </a:rPr>
                        <a:t>[CONFIRM: practical session included]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9740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Scaffold safety awareness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 day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8534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Chemical safety — handling, storage, spill response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1–3 days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Training only — not assessment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lab-1"/>
          <p:cNvSpPr/>
          <p:nvPr/>
        </p:nvSpPr>
        <p:spPr>
          <a:xfrm>
            <a:off x="508000" y="6070600"/>
            <a:ext cx="1498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3" name="lab-1-t"/>
          <p:cNvSpPr txBox="1"/>
          <p:nvPr/>
        </p:nvSpPr>
        <p:spPr>
          <a:xfrm>
            <a:off x="508000" y="60706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17 PROGRAMMES</a:t>
            </a:r>
            <a:endParaRPr lang="en-US" sz="1000" noProof="1"/>
          </a:p>
        </p:txBody>
      </p:sp>
      <p:sp>
        <p:nvSpPr>
          <p:cNvPr id="14" name="lab-2"/>
          <p:cNvSpPr/>
          <p:nvPr/>
        </p:nvSpPr>
        <p:spPr>
          <a:xfrm>
            <a:off x="2133600" y="6070600"/>
            <a:ext cx="1498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5" name="lab-2-t"/>
          <p:cNvSpPr txBox="1"/>
          <p:nvPr/>
        </p:nvSpPr>
        <p:spPr>
          <a:xfrm>
            <a:off x="2133600" y="60706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ON-SITE DELIVERY</a:t>
            </a:r>
            <a:endParaRPr lang="en-US" sz="1000" noProof="1"/>
          </a:p>
        </p:txBody>
      </p:sp>
      <p:sp>
        <p:nvSpPr>
          <p:cNvPr id="16" name="lab-3"/>
          <p:cNvSpPr/>
          <p:nvPr/>
        </p:nvSpPr>
        <p:spPr>
          <a:xfrm>
            <a:off x="3759200" y="6070600"/>
            <a:ext cx="1397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7" name="lab-3-t"/>
          <p:cNvSpPr txBox="1"/>
          <p:nvPr/>
        </p:nvSpPr>
        <p:spPr>
          <a:xfrm>
            <a:off x="3759200" y="60706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AWARENESS LEVEL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07 / 14</a:t>
            </a:r>
            <a:endParaRPr lang="en-US" sz="1000" noProof="1"/>
          </a:p>
        </p:txBody>
      </p:sp>
      <p:sp>
        <p:nvSpPr>
          <p:cNvPr id="19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20833" r="2083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6858000" y="6299200"/>
            <a:ext cx="53340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7010400" y="6502400"/>
            <a:ext cx="502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Fire extinguisher drill, 2020.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PROGRAMMES · 3 OF 3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08000" y="711200"/>
            <a:ext cx="609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2000"/>
              </a:lnSpc>
            </a:pPr>
            <a:r>
              <a:rPr lang="en-US" sz="3400" noProof="1" b="1" spc="-100" kern="0">
                <a:solidFill>
                  <a:srgbClr val="FFFFFF"/>
                </a:solidFill>
                <a:latin typeface="MiSans"/>
                <a:ea typeface="MiSans"/>
              </a:rPr>
              <a:t>Emergency and specialist programmes</a:t>
            </a:r>
            <a:endParaRPr lang="en-US" sz="3400" noProof="1"/>
          </a:p>
        </p:txBody>
      </p:sp>
      <p:graphicFrame>
        <p:nvGraphicFramePr>
          <p:cNvPr id="11" name="prog-table"/>
          <p:cNvGraphicFramePr>
            <a:graphicFrameLocks noGrp="1"/>
          </p:cNvGraphicFramePr>
          <p:nvPr/>
        </p:nvGraphicFramePr>
        <p:xfrm>
          <a:off x="508000" y="1879600"/>
          <a:ext cx="6096000" cy="35052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2621280"/>
              </a:tblGrid>
              <a:tr h="38557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PROGRAMME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00" noProof="1" b="1" spc="100" kern="0">
                          <a:solidFill>
                            <a:srgbClr val="FFFFFF">
                              <a:alpha val="40000"/>
                            </a:srgbClr>
                          </a:solidFill>
                          <a:latin typeface="Times New Roman"/>
                          <a:ea typeface="Times New Roman"/>
                        </a:rPr>
                        <a:t>NOTES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257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Electrical safety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Custom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6083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Emergency response &amp; fire safety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 day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5257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First aid &amp; CPR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2 days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701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Forklift &amp; machinery safety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1–3 days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Client provides the machine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80619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Tailor-made HSE programmes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Custom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Built from the client's incident history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extra-note"/>
          <p:cNvSpPr txBox="1"/>
          <p:nvPr/>
        </p:nvSpPr>
        <p:spPr>
          <a:xfrm>
            <a:off x="508000" y="5588000"/>
            <a:ext cx="609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FFFFFF">
                    <a:alpha val="65098"/>
                  </a:srgbClr>
                </a:solidFill>
                <a:latin typeface="MiSans"/>
                <a:ea typeface="MiSans"/>
              </a:rPr>
              <a:t>Durations shown are typical. Tailor-made programmes are scoped with the client before quotation.</a:t>
            </a:r>
            <a:endParaRPr lang="en-US" sz="1000" noProof="1"/>
          </a:p>
        </p:txBody>
      </p:sp>
      <p:sp>
        <p:nvSpPr>
          <p:cNvPr id="13" name="lab-1"/>
          <p:cNvSpPr/>
          <p:nvPr/>
        </p:nvSpPr>
        <p:spPr>
          <a:xfrm>
            <a:off x="508000" y="6070600"/>
            <a:ext cx="1498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4" name="lab-1-t"/>
          <p:cNvSpPr txBox="1"/>
          <p:nvPr/>
        </p:nvSpPr>
        <p:spPr>
          <a:xfrm>
            <a:off x="508000" y="60706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17 PROGRAMMES</a:t>
            </a:r>
            <a:endParaRPr lang="en-US" sz="1000" noProof="1"/>
          </a:p>
        </p:txBody>
      </p:sp>
      <p:sp>
        <p:nvSpPr>
          <p:cNvPr id="15" name="lab-2"/>
          <p:cNvSpPr/>
          <p:nvPr/>
        </p:nvSpPr>
        <p:spPr>
          <a:xfrm>
            <a:off x="2133600" y="6070600"/>
            <a:ext cx="1498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6" name="lab-2-t"/>
          <p:cNvSpPr txBox="1"/>
          <p:nvPr/>
        </p:nvSpPr>
        <p:spPr>
          <a:xfrm>
            <a:off x="2133600" y="60706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ON-SITE DELIVERY</a:t>
            </a:r>
            <a:endParaRPr lang="en-US" sz="1000" noProof="1"/>
          </a:p>
        </p:txBody>
      </p:sp>
      <p:sp>
        <p:nvSpPr>
          <p:cNvPr id="17" name="lab-3"/>
          <p:cNvSpPr/>
          <p:nvPr/>
        </p:nvSpPr>
        <p:spPr>
          <a:xfrm>
            <a:off x="3759200" y="6070600"/>
            <a:ext cx="13208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8" name="lab-3-t"/>
          <p:cNvSpPr txBox="1"/>
          <p:nvPr/>
        </p:nvSpPr>
        <p:spPr>
          <a:xfrm>
            <a:off x="3759200" y="6070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TAILOR-MADE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08 / 14</a:t>
            </a:r>
            <a:endParaRPr lang="en-US" sz="1000" noProof="1"/>
          </a:p>
        </p:txBody>
      </p:sp>
      <p:sp>
        <p:nvSpPr>
          <p:cNvPr id="20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20833" r="2083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6858000" y="6299200"/>
            <a:ext cx="53340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7010400" y="6502400"/>
            <a:ext cx="502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Construction site during earthworks, 2018.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THE LAW · SECTION 29A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08000" y="660400"/>
            <a:ext cx="6096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2000"/>
              </a:lnSpc>
            </a:pPr>
            <a:r>
              <a:rPr lang="en-US" sz="3400" noProof="1" b="1" spc="-100" kern="0">
                <a:solidFill>
                  <a:srgbClr val="FFFFFF"/>
                </a:solidFill>
                <a:latin typeface="MiSans"/>
                <a:ea typeface="MiSans"/>
              </a:rPr>
              <a:t>Section 29A: five employees is the threshold</a:t>
            </a:r>
            <a:endParaRPr lang="en-US" sz="3400" noProof="1"/>
          </a:p>
        </p:txBody>
      </p:sp>
      <p:sp>
        <p:nvSpPr>
          <p:cNvPr id="11" name="stat1-num"/>
          <p:cNvSpPr txBox="1"/>
          <p:nvPr/>
        </p:nvSpPr>
        <p:spPr>
          <a:xfrm>
            <a:off x="508000" y="1803400"/>
            <a:ext cx="114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200" noProof="1" b="1" spc="-100" kern="0">
                <a:solidFill>
                  <a:srgbClr val="FFFFFF"/>
                </a:solidFill>
                <a:latin typeface="MiSans"/>
                <a:ea typeface="MiSans"/>
              </a:rPr>
              <a:t>5+</a:t>
            </a:r>
            <a:endParaRPr lang="en-US" sz="4200" noProof="1"/>
          </a:p>
        </p:txBody>
      </p:sp>
      <p:sp>
        <p:nvSpPr>
          <p:cNvPr id="12" name="stat1-cap"/>
          <p:cNvSpPr txBox="1"/>
          <p:nvPr/>
        </p:nvSpPr>
        <p:spPr>
          <a:xfrm>
            <a:off x="1778000" y="1828800"/>
            <a:ext cx="482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FFFFFF">
                    <a:alpha val="65098"/>
                  </a:srgbClr>
                </a:solidFill>
                <a:latin typeface="MiSans"/>
                <a:ea typeface="MiSans"/>
              </a:rPr>
              <a:t>employees at a place of work — the employer must appoint one of its own employees, in writing, as OSH coordinator, and that employee must complete the required training</a:t>
            </a:r>
            <a:endParaRPr lang="en-US" sz="1100" noProof="1"/>
          </a:p>
        </p:txBody>
      </p:sp>
      <p:sp>
        <p:nvSpPr>
          <p:cNvPr id="13" name="stat2-num"/>
          <p:cNvSpPr txBox="1"/>
          <p:nvPr/>
        </p:nvSpPr>
        <p:spPr>
          <a:xfrm>
            <a:off x="508000" y="26416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800" noProof="1" b="1" spc="-100" kern="0">
                <a:solidFill>
                  <a:srgbClr val="FFFFFF"/>
                </a:solidFill>
                <a:latin typeface="MiSans"/>
                <a:ea typeface="MiSans"/>
              </a:rPr>
              <a:t>RM500,000</a:t>
            </a:r>
            <a:endParaRPr lang="en-US" sz="3800" noProof="1"/>
          </a:p>
        </p:txBody>
      </p:sp>
      <p:sp>
        <p:nvSpPr>
          <p:cNvPr id="14" name="stat2-cap"/>
          <p:cNvSpPr txBox="1"/>
          <p:nvPr/>
        </p:nvSpPr>
        <p:spPr>
          <a:xfrm>
            <a:off x="3708400" y="2667000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FFFFFF">
                    <a:alpha val="65098"/>
                  </a:srgbClr>
                </a:solidFill>
                <a:latin typeface="MiSans"/>
                <a:ea typeface="MiSans"/>
              </a:rPr>
              <a:t>maximum fine under the amended general duty — ten times higher than before</a:t>
            </a:r>
            <a:endParaRPr lang="en-US" sz="1100" noProof="1"/>
          </a:p>
        </p:txBody>
      </p:sp>
      <p:sp>
        <p:nvSpPr>
          <p:cNvPr id="15" name="body"/>
          <p:cNvSpPr txBox="1"/>
          <p:nvPr/>
        </p:nvSpPr>
        <p:spPr>
          <a:xfrm>
            <a:off x="508000" y="3454400"/>
            <a:ext cx="6096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FFFFFF"/>
                </a:solidFill>
                <a:latin typeface="MiSans"/>
                <a:ea typeface="MiSans"/>
              </a:rPr>
              <a:t>In force </a:t>
            </a:r>
            <a:r>
              <a:rPr lang="en-US" sz="1000" noProof="1" b="1">
                <a:solidFill>
                  <a:srgbClr val="FFFFFF"/>
                </a:solidFill>
                <a:latin typeface="MiSans"/>
                <a:ea typeface="MiSans"/>
              </a:rPr>
              <a:t>1 June 2024</a:t>
            </a:r>
            <a:r>
              <a:rPr lang="en-US" sz="1000" noProof="1">
                <a:solidFill>
                  <a:srgbClr val="FFFFFF"/>
                </a:solidFill>
                <a:latin typeface="MiSans"/>
                <a:ea typeface="MiSans"/>
              </a:rPr>
              <a:t> under the OSH (Amendment) Act 2022 — the Act passed in 2022; the duty began in 2024. Employers already required to appoint a Safety and Health Officer under section 29 are excluded.</a:t>
            </a:r>
            <a:endParaRPr lang="en-US" sz="10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000" noProof="1">
                <a:solidFill>
                  <a:srgbClr val="FFFFFF"/>
                </a:solidFill>
                <a:latin typeface="MiSans"/>
                <a:ea typeface="MiSans"/>
              </a:rPr>
              <a:t>Section 52 allows directors, managers and similar officers to be charged personally unless they can show the offence occurred without their consent or connivance and that they exercised due diligence. A Safety and Health Committee is required where 40 or more persons are employed. The Factories and Machinery Act 1967 was repealed on the same date.</a:t>
            </a:r>
            <a:endParaRPr lang="en-US" sz="1000" noProof="1"/>
          </a:p>
        </p:txBody>
      </p:sp>
      <p:sp>
        <p:nvSpPr>
          <p:cNvPr id="16" name="naja-line"/>
          <p:cNvSpPr txBox="1"/>
          <p:nvPr/>
        </p:nvSpPr>
        <p:spPr>
          <a:xfrm>
            <a:off x="508000" y="5232400"/>
            <a:ext cx="609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FFFFFF"/>
                </a:solidFill>
                <a:latin typeface="MiSans"/>
                <a:ea typeface="MiSans"/>
              </a:rPr>
              <a:t>Naja Safety's OSH Coordinator programme prepares the appointed employee. </a:t>
            </a:r>
            <a:r>
              <a:rPr lang="en-US" sz="1000" noProof="1">
                <a:solidFill>
                  <a:srgbClr val="FFFFFF"/>
                </a:solidFill>
                <a:highlight>
                  <a:srgbClr val="FFFFFF">
                    <a:alpha val="14902"/>
                  </a:srgbClr>
                </a:highlight>
                <a:latin typeface="MiSans"/>
                <a:ea typeface="MiSans"/>
              </a:rPr>
              <a:t>[VERIFY: DOSH provider registration]</a:t>
            </a:r>
            <a:endParaRPr lang="en-US" sz="1000" noProof="1"/>
          </a:p>
        </p:txBody>
      </p:sp>
      <p:sp>
        <p:nvSpPr>
          <p:cNvPr id="17" name="footnote"/>
          <p:cNvSpPr txBox="1"/>
          <p:nvPr/>
        </p:nvSpPr>
        <p:spPr>
          <a:xfrm>
            <a:off x="508000" y="5740400"/>
            <a:ext cx="609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00" noProof="1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Sources: Lexology — OSH (Amendment) Act 2022 commencement · Herbert Smith Freehills Kramer, Compliance Check (May 2024) · Baker McKenzie InsightPlus — key changes to Malaysian OSH law.</a:t>
            </a:r>
            <a:endParaRPr lang="en-US" sz="800" noProof="1"/>
          </a:p>
        </p:txBody>
      </p:sp>
      <p:sp>
        <p:nvSpPr>
          <p:cNvPr id="18" name="lab-1"/>
          <p:cNvSpPr/>
          <p:nvPr/>
        </p:nvSpPr>
        <p:spPr>
          <a:xfrm>
            <a:off x="508000" y="6172200"/>
            <a:ext cx="17272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9" name="lab-1-t"/>
          <p:cNvSpPr txBox="1"/>
          <p:nvPr/>
        </p:nvSpPr>
        <p:spPr>
          <a:xfrm>
            <a:off x="508000" y="6172200"/>
            <a:ext cx="172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IN FORCE 1 JUN 2024</a:t>
            </a:r>
            <a:endParaRPr lang="en-US" sz="1000" noProof="1"/>
          </a:p>
        </p:txBody>
      </p:sp>
      <p:sp>
        <p:nvSpPr>
          <p:cNvPr id="20" name="lab-2"/>
          <p:cNvSpPr/>
          <p:nvPr/>
        </p:nvSpPr>
        <p:spPr>
          <a:xfrm>
            <a:off x="2362200" y="6172200"/>
            <a:ext cx="1524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1" name="lab-2-t"/>
          <p:cNvSpPr txBox="1"/>
          <p:nvPr/>
        </p:nvSpPr>
        <p:spPr>
          <a:xfrm>
            <a:off x="2362200" y="61722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5+ EMPLOYEES</a:t>
            </a:r>
            <a:endParaRPr lang="en-US" sz="1000" noProof="1"/>
          </a:p>
        </p:txBody>
      </p:sp>
      <p:sp>
        <p:nvSpPr>
          <p:cNvPr id="22" name="lab-3"/>
          <p:cNvSpPr/>
          <p:nvPr/>
        </p:nvSpPr>
        <p:spPr>
          <a:xfrm>
            <a:off x="4013200" y="6172200"/>
            <a:ext cx="19304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3" name="lab-3-t"/>
          <p:cNvSpPr txBox="1"/>
          <p:nvPr/>
        </p:nvSpPr>
        <p:spPr>
          <a:xfrm>
            <a:off x="4013200" y="6172200"/>
            <a:ext cx="1930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40+ → SH COMMITTEE</a:t>
            </a:r>
            <a:endParaRPr lang="en-US" sz="1000" noProof="1"/>
          </a:p>
        </p:txBody>
      </p:sp>
      <p:sp>
        <p:nvSpPr>
          <p:cNvPr id="24" name="page-num"/>
          <p:cNvSpPr txBox="1"/>
          <p:nvPr/>
        </p:nvSpPr>
        <p:spPr>
          <a:xfrm>
            <a:off x="241300" y="65532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09 / 14</a:t>
            </a:r>
            <a:endParaRPr lang="en-US" sz="1000" noProof="1"/>
          </a:p>
        </p:txBody>
      </p:sp>
      <p:sp>
        <p:nvSpPr>
          <p:cNvPr id="25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30939" r="30939"/>
          <a:stretch>
            <a:fillRect/>
          </a:stretch>
        </p:blipFill>
        <p:spPr>
          <a:xfrm>
            <a:off x="0" y="0"/>
            <a:ext cx="53594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0" y="6299200"/>
            <a:ext cx="53594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1397000" y="650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Course documentation review with a client, 2020.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HRD CORP CLAIMS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969000" y="7874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2000"/>
              </a:lnSpc>
            </a:pPr>
            <a:r>
              <a:rPr lang="en-US" sz="3600" noProof="1" b="1" spc="-100" kern="0">
                <a:solidFill>
                  <a:srgbClr val="FFFFFF"/>
                </a:solidFill>
                <a:latin typeface="MiSans"/>
                <a:ea typeface="MiSans"/>
              </a:rPr>
              <a:t>Put the levy to work before it lapses</a:t>
            </a:r>
            <a:endParaRPr lang="en-US" sz="3600" noProof="1"/>
          </a:p>
        </p:txBody>
      </p:sp>
      <p:graphicFrame>
        <p:nvGraphicFramePr>
          <p:cNvPr id="11" name="steps"/>
          <p:cNvGraphicFramePr>
            <a:graphicFrameLocks noGrp="1"/>
          </p:cNvGraphicFramePr>
          <p:nvPr/>
        </p:nvGraphicFramePr>
        <p:xfrm>
          <a:off x="5969000" y="2032000"/>
          <a:ext cx="5715000" cy="1625600"/>
        </p:xfrm>
        <a:graphic>
          <a:graphicData uri="http://schemas.openxmlformats.org/drawingml/2006/table">
            <a:tbl>
              <a:tblPr/>
              <a:tblGrid>
                <a:gridCol w="685800"/>
                <a:gridCol w="5029200"/>
              </a:tblGrid>
              <a:tr h="406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01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Audit the employer's levy position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02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Map programmes to the gaps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03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Deliver the training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04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Support the e-TRiS claim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18039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forf-label"/>
          <p:cNvSpPr txBox="1"/>
          <p:nvPr/>
        </p:nvSpPr>
        <p:spPr>
          <a:xfrm>
            <a:off x="5969000" y="38862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THE FORFEITURE RULE · S.25 PSMB ACT 2001</a:t>
            </a:r>
            <a:endParaRPr lang="en-US" sz="900" noProof="1"/>
          </a:p>
        </p:txBody>
      </p:sp>
      <p:sp>
        <p:nvSpPr>
          <p:cNvPr id="13" name="forf-text"/>
          <p:cNvSpPr txBox="1"/>
          <p:nvPr/>
        </p:nvSpPr>
        <p:spPr>
          <a:xfrm>
            <a:off x="5969000" y="4114800"/>
            <a:ext cx="5715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Levy not used within a </a:t>
            </a: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two-year window</a:t>
            </a: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 — from registration, from the date of the last financial assistance, or, where an employer has never claimed, from the levy-statement date on which the balance first reached RM10,000 — is forfeited above a retained RM10,000. Forfeited levy remains in the HRD Corp fund.</a:t>
            </a:r>
            <a:endParaRPr lang="en-US" sz="1100" noProof="1"/>
          </a:p>
        </p:txBody>
      </p:sp>
      <p:sp>
        <p:nvSpPr>
          <p:cNvPr id="14" name="claim-line"/>
          <p:cNvSpPr txBox="1"/>
          <p:nvPr/>
        </p:nvSpPr>
        <p:spPr>
          <a:xfrm>
            <a:off x="5969000" y="5384800"/>
            <a:ext cx="571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FFFFFF"/>
                </a:solidFill>
                <a:latin typeface="MiSans"/>
                <a:ea typeface="MiSans"/>
              </a:rPr>
              <a:t>Programmes are structured for HRD Corp claimability, subject to the employer's levy balance and grant approval. </a:t>
            </a:r>
            <a:r>
              <a:rPr lang="en-US" sz="1000" noProof="1">
                <a:solidFill>
                  <a:srgbClr val="FFFFFF"/>
                </a:solidFill>
                <a:highlight>
                  <a:srgbClr val="FFFFFF">
                    <a:alpha val="14902"/>
                  </a:srgbClr>
                </a:highlight>
                <a:latin typeface="MiSans"/>
                <a:ea typeface="MiSans"/>
              </a:rPr>
              <a:t>[VERIFY: e-TRiS provider registration]</a:t>
            </a:r>
            <a:endParaRPr lang="en-US" sz="1000" noProof="1"/>
          </a:p>
        </p:txBody>
      </p:sp>
      <p:sp>
        <p:nvSpPr>
          <p:cNvPr id="15" name="footnote"/>
          <p:cNvSpPr txBox="1"/>
          <p:nvPr/>
        </p:nvSpPr>
        <p:spPr>
          <a:xfrm>
            <a:off x="5969000" y="5969000"/>
            <a:ext cx="5715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Source: HRD Corp Support Centre — "HRD levy forfeiture".</a:t>
            </a:r>
            <a:endParaRPr lang="en-US" sz="800" noProof="1"/>
          </a:p>
        </p:txBody>
      </p:sp>
      <p:sp>
        <p:nvSpPr>
          <p:cNvPr id="16" name="lab-1"/>
          <p:cNvSpPr/>
          <p:nvPr/>
        </p:nvSpPr>
        <p:spPr>
          <a:xfrm>
            <a:off x="5969000" y="6248400"/>
            <a:ext cx="1905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7" name="lab-1-t"/>
          <p:cNvSpPr txBox="1"/>
          <p:nvPr/>
        </p:nvSpPr>
        <p:spPr>
          <a:xfrm>
            <a:off x="59690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TWO-YEAR WINDOW</a:t>
            </a:r>
            <a:endParaRPr lang="en-US" sz="1000" noProof="1"/>
          </a:p>
        </p:txBody>
      </p:sp>
      <p:sp>
        <p:nvSpPr>
          <p:cNvPr id="18" name="lab-2"/>
          <p:cNvSpPr/>
          <p:nvPr/>
        </p:nvSpPr>
        <p:spPr>
          <a:xfrm>
            <a:off x="8001000" y="6248400"/>
            <a:ext cx="1778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9" name="lab-2-t"/>
          <p:cNvSpPr txBox="1"/>
          <p:nvPr/>
        </p:nvSpPr>
        <p:spPr>
          <a:xfrm>
            <a:off x="8001000" y="62484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RM10,000 RETAINED</a:t>
            </a:r>
            <a:endParaRPr lang="en-US" sz="1000" noProof="1"/>
          </a:p>
        </p:txBody>
      </p:sp>
      <p:sp>
        <p:nvSpPr>
          <p:cNvPr id="20" name="lab-3"/>
          <p:cNvSpPr/>
          <p:nvPr/>
        </p:nvSpPr>
        <p:spPr>
          <a:xfrm>
            <a:off x="9906000" y="6248400"/>
            <a:ext cx="1778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1" name="lab-3-t"/>
          <p:cNvSpPr txBox="1"/>
          <p:nvPr/>
        </p:nvSpPr>
        <p:spPr>
          <a:xfrm>
            <a:off x="9906000" y="62484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E-TRIS CLAIM SUPPORT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10 / 14</a:t>
            </a:r>
            <a:endParaRPr lang="en-US" sz="1000" noProof="1"/>
          </a:p>
        </p:txBody>
      </p:sp>
      <p:sp>
        <p:nvSpPr>
          <p:cNvPr id="23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20833" r="2083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6858000" y="6299200"/>
            <a:ext cx="53340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7010400" y="6502400"/>
            <a:ext cx="502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Extinguisher briefing at a client premises, 2020.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DELIVERY MODEL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08000" y="736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02000"/>
              </a:lnSpc>
            </a:pPr>
            <a:r>
              <a:rPr lang="en-US" sz="3800" noProof="1" b="1" spc="-100" kern="0">
                <a:solidFill>
                  <a:srgbClr val="FFFFFF"/>
                </a:solidFill>
                <a:latin typeface="MiSans"/>
                <a:ea typeface="MiSans"/>
              </a:rPr>
              <a:t>Delivered on site, nationwide</a:t>
            </a:r>
            <a:endParaRPr lang="en-US" sz="3800" noProof="1"/>
          </a:p>
        </p:txBody>
      </p:sp>
      <p:sp>
        <p:nvSpPr>
          <p:cNvPr id="11" name="b1-label"/>
          <p:cNvSpPr txBox="1"/>
          <p:nvPr/>
        </p:nvSpPr>
        <p:spPr>
          <a:xfrm>
            <a:off x="508000" y="16256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ON-SITE</a:t>
            </a:r>
            <a:endParaRPr lang="en-US" sz="900" noProof="1"/>
          </a:p>
        </p:txBody>
      </p:sp>
      <p:sp>
        <p:nvSpPr>
          <p:cNvPr id="12" name="b1-text"/>
          <p:cNvSpPr txBox="1"/>
          <p:nvPr/>
        </p:nvSpPr>
        <p:spPr>
          <a:xfrm>
            <a:off x="508000" y="1854200"/>
            <a:ext cx="6096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Training takes place at the client's premises. The client provides the room or work area, the workers, and machinery where the programme requires it; Naja Safety provides the trainer and the programme.</a:t>
            </a:r>
            <a:endParaRPr lang="en-US" sz="1200" noProof="1"/>
          </a:p>
        </p:txBody>
      </p:sp>
      <p:sp>
        <p:nvSpPr>
          <p:cNvPr id="13" name="b2-label"/>
          <p:cNvSpPr txBox="1"/>
          <p:nvPr/>
        </p:nvSpPr>
        <p:spPr>
          <a:xfrm>
            <a:off x="508000" y="28194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NETWORK REACH</a:t>
            </a:r>
            <a:endParaRPr lang="en-US" sz="900" noProof="1"/>
          </a:p>
        </p:txBody>
      </p:sp>
      <p:sp>
        <p:nvSpPr>
          <p:cNvPr id="14" name="b2-text"/>
          <p:cNvSpPr txBox="1"/>
          <p:nvPr/>
        </p:nvSpPr>
        <p:spPr>
          <a:xfrm>
            <a:off x="508000" y="3048000"/>
            <a:ext cx="609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Delivery nationwide through a freelance trainer network built over two decades, including Sabah and Sarawak.</a:t>
            </a:r>
            <a:endParaRPr lang="en-US" sz="1200" noProof="1"/>
          </a:p>
        </p:txBody>
      </p:sp>
      <p:sp>
        <p:nvSpPr>
          <p:cNvPr id="15" name="b3-label"/>
          <p:cNvSpPr txBox="1"/>
          <p:nvPr/>
        </p:nvSpPr>
        <p:spPr>
          <a:xfrm>
            <a:off x="508000" y="37592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LOGISTICS</a:t>
            </a:r>
            <a:endParaRPr lang="en-US" sz="900" noProof="1"/>
          </a:p>
        </p:txBody>
      </p:sp>
      <p:sp>
        <p:nvSpPr>
          <p:cNvPr id="16" name="b3-text"/>
          <p:cNvSpPr txBox="1"/>
          <p:nvPr/>
        </p:nvSpPr>
        <p:spPr>
          <a:xfrm>
            <a:off x="508000" y="3987800"/>
            <a:ext cx="609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Group size </a:t>
            </a:r>
            <a:r>
              <a:rPr lang="en-US" sz="1200" noProof="1">
                <a:solidFill>
                  <a:srgbClr val="FFFFFF"/>
                </a:solidFill>
                <a:highlight>
                  <a:srgbClr val="FFFFFF">
                    <a:alpha val="14902"/>
                  </a:srgbClr>
                </a:highlight>
                <a:latin typeface="MiSans"/>
                <a:ea typeface="MiSans"/>
              </a:rPr>
              <a:t>[INSERT]</a:t>
            </a: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 · Lead time </a:t>
            </a:r>
            <a:r>
              <a:rPr lang="en-US" sz="1200" noProof="1">
                <a:solidFill>
                  <a:srgbClr val="FFFFFF"/>
                </a:solidFill>
                <a:highlight>
                  <a:srgbClr val="FFFFFF">
                    <a:alpha val="14902"/>
                  </a:srgbClr>
                </a:highlight>
                <a:latin typeface="MiSans"/>
                <a:ea typeface="MiSans"/>
              </a:rPr>
              <a:t>[INSERT]</a:t>
            </a: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 · Languages of delivery </a:t>
            </a:r>
            <a:r>
              <a:rPr lang="en-US" sz="1200" noProof="1">
                <a:solidFill>
                  <a:srgbClr val="FFFFFF"/>
                </a:solidFill>
                <a:highlight>
                  <a:srgbClr val="FFFFFF">
                    <a:alpha val="14902"/>
                  </a:srgbClr>
                </a:highlight>
                <a:latin typeface="MiSans"/>
                <a:ea typeface="MiSans"/>
              </a:rPr>
              <a:t>[INSERT]</a:t>
            </a:r>
            <a:endParaRPr lang="en-US" sz="1200" noProof="1"/>
          </a:p>
        </p:txBody>
      </p:sp>
      <p:sp>
        <p:nvSpPr>
          <p:cNvPr id="17" name="b4-text"/>
          <p:cNvSpPr txBox="1"/>
          <p:nvPr/>
        </p:nvSpPr>
        <p:spPr>
          <a:xfrm>
            <a:off x="508000" y="4775200"/>
            <a:ext cx="6096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 i="1">
                <a:solidFill>
                  <a:srgbClr val="FFFFFF">
                    <a:alpha val="65098"/>
                  </a:srgbClr>
                </a:solidFill>
                <a:latin typeface="MiSans"/>
                <a:ea typeface="MiSans"/>
              </a:rPr>
              <a:t>Statutory assessments requiring a registered competent person — Chemical Health Risk Assessment (CHRA), noise risk assessment, local exhaust ventilation inspection and ergonomics risk assessment — are coordinated through registered partner assessors on request.</a:t>
            </a:r>
            <a:endParaRPr lang="en-US" sz="1000" noProof="1"/>
          </a:p>
        </p:txBody>
      </p:sp>
      <p:sp>
        <p:nvSpPr>
          <p:cNvPr id="18" name="lab-1"/>
          <p:cNvSpPr/>
          <p:nvPr/>
        </p:nvSpPr>
        <p:spPr>
          <a:xfrm>
            <a:off x="508000" y="6070600"/>
            <a:ext cx="16764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9" name="lab-1-t"/>
          <p:cNvSpPr txBox="1"/>
          <p:nvPr/>
        </p:nvSpPr>
        <p:spPr>
          <a:xfrm>
            <a:off x="508000" y="60706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ON-SITE AT CLIENT</a:t>
            </a:r>
            <a:endParaRPr lang="en-US" sz="1000" noProof="1"/>
          </a:p>
        </p:txBody>
      </p:sp>
      <p:sp>
        <p:nvSpPr>
          <p:cNvPr id="20" name="lab-2"/>
          <p:cNvSpPr/>
          <p:nvPr/>
        </p:nvSpPr>
        <p:spPr>
          <a:xfrm>
            <a:off x="2311400" y="6070600"/>
            <a:ext cx="12192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1" name="lab-2-t"/>
          <p:cNvSpPr txBox="1"/>
          <p:nvPr/>
        </p:nvSpPr>
        <p:spPr>
          <a:xfrm>
            <a:off x="2311400" y="60706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NATIONWIDE</a:t>
            </a:r>
            <a:endParaRPr lang="en-US" sz="1000" noProof="1"/>
          </a:p>
        </p:txBody>
      </p:sp>
      <p:sp>
        <p:nvSpPr>
          <p:cNvPr id="22" name="lab-3"/>
          <p:cNvSpPr/>
          <p:nvPr/>
        </p:nvSpPr>
        <p:spPr>
          <a:xfrm>
            <a:off x="3657600" y="6070600"/>
            <a:ext cx="1752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3" name="lab-3-t"/>
          <p:cNvSpPr txBox="1"/>
          <p:nvPr/>
        </p:nvSpPr>
        <p:spPr>
          <a:xfrm>
            <a:off x="3657600" y="60706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SABAH &amp; SARAWAK</a:t>
            </a:r>
            <a:endParaRPr lang="en-US" sz="1000" noProof="1"/>
          </a:p>
        </p:txBody>
      </p:sp>
      <p:sp>
        <p:nvSpPr>
          <p:cNvPr id="24" name="lab-4"/>
          <p:cNvSpPr/>
          <p:nvPr/>
        </p:nvSpPr>
        <p:spPr>
          <a:xfrm>
            <a:off x="5537200" y="6070600"/>
            <a:ext cx="10668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5" name="lab-4-t"/>
          <p:cNvSpPr txBox="1"/>
          <p:nvPr/>
        </p:nvSpPr>
        <p:spPr>
          <a:xfrm>
            <a:off x="5537200" y="60706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NO BRANCHES</a:t>
            </a:r>
            <a:endParaRPr lang="en-US" sz="1000" noProof="1"/>
          </a:p>
        </p:txBody>
      </p:sp>
      <p:sp>
        <p:nvSpPr>
          <p:cNvPr id="26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11 / 14</a:t>
            </a:r>
            <a:endParaRPr lang="en-US" sz="1000" noProof="1"/>
          </a:p>
        </p:txBody>
      </p:sp>
      <p:sp>
        <p:nvSpPr>
          <p:cNvPr id="27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1"/>
          <p:cNvPicPr/>
          <p:nvPr/>
        </p:nvPicPr>
        <p:blipFill>
          <a:blip r:embed="rId2"/>
          <a:srcRect l="26034" r="26034"/>
          <a:stretch>
            <a:fillRect/>
          </a:stretch>
        </p:blipFill>
        <p:spPr>
          <a:xfrm>
            <a:off x="5842000" y="0"/>
            <a:ext cx="2159000" cy="3378200"/>
          </a:xfrm>
          <a:prstGeom prst="rect">
            <a:avLst/>
          </a:prstGeom>
          <a:ln>
            <a:noFill/>
          </a:ln>
        </p:spPr>
      </p:pic>
      <p:pic>
        <p:nvPicPr>
          <p:cNvPr id="3" name="m2"/>
          <p:cNvPicPr/>
          <p:nvPr/>
        </p:nvPicPr>
        <p:blipFill>
          <a:blip r:embed="rId3"/>
          <a:srcRect l="26739" r="26739"/>
          <a:stretch>
            <a:fillRect/>
          </a:stretch>
        </p:blipFill>
        <p:spPr>
          <a:xfrm>
            <a:off x="8051800" y="0"/>
            <a:ext cx="2095500" cy="3378200"/>
          </a:xfrm>
          <a:prstGeom prst="rect">
            <a:avLst/>
          </a:prstGeom>
          <a:ln>
            <a:noFill/>
          </a:ln>
        </p:spPr>
      </p:pic>
      <p:pic>
        <p:nvPicPr>
          <p:cNvPr id="4" name="m3"/>
          <p:cNvPicPr/>
          <p:nvPr/>
        </p:nvPicPr>
        <p:blipFill>
          <a:blip r:embed="rId4"/>
          <a:srcRect l="27867" r="27867"/>
          <a:stretch>
            <a:fillRect/>
          </a:stretch>
        </p:blipFill>
        <p:spPr>
          <a:xfrm>
            <a:off x="10198100" y="0"/>
            <a:ext cx="1993900" cy="3378200"/>
          </a:xfrm>
          <a:prstGeom prst="rect">
            <a:avLst/>
          </a:prstGeom>
          <a:ln>
            <a:noFill/>
          </a:ln>
        </p:spPr>
      </p:pic>
      <p:pic>
        <p:nvPicPr>
          <p:cNvPr id="5" name="m4"/>
          <p:cNvPicPr/>
          <p:nvPr/>
        </p:nvPicPr>
        <p:blipFill>
          <a:blip r:embed="rId5"/>
          <a:srcRect l="36613" r="36613"/>
          <a:stretch>
            <a:fillRect/>
          </a:stretch>
        </p:blipFill>
        <p:spPr>
          <a:xfrm>
            <a:off x="5842000" y="3429000"/>
            <a:ext cx="1993900" cy="3429000"/>
          </a:xfrm>
          <a:prstGeom prst="rect">
            <a:avLst/>
          </a:prstGeom>
          <a:ln>
            <a:noFill/>
          </a:ln>
        </p:spPr>
      </p:pic>
      <p:pic>
        <p:nvPicPr>
          <p:cNvPr id="6" name="m5"/>
          <p:cNvPicPr/>
          <p:nvPr/>
        </p:nvPicPr>
        <p:blipFill>
          <a:blip r:embed="rId6"/>
          <a:srcRect l="26370" r="26370"/>
          <a:stretch>
            <a:fillRect/>
          </a:stretch>
        </p:blipFill>
        <p:spPr>
          <a:xfrm>
            <a:off x="7886700" y="3429000"/>
            <a:ext cx="2159000" cy="3429000"/>
          </a:xfrm>
          <a:prstGeom prst="rect">
            <a:avLst/>
          </a:prstGeom>
          <a:ln>
            <a:noFill/>
          </a:ln>
        </p:spPr>
      </p:pic>
      <p:pic>
        <p:nvPicPr>
          <p:cNvPr id="7" name="m6"/>
          <p:cNvPicPr/>
          <p:nvPr/>
        </p:nvPicPr>
        <p:blipFill>
          <a:blip r:embed="rId7"/>
          <a:srcRect l="32813" r="32813"/>
          <a:stretch>
            <a:fillRect/>
          </a:stretch>
        </p:blipFill>
        <p:spPr>
          <a:xfrm>
            <a:off x="10096500" y="3429000"/>
            <a:ext cx="2095500" cy="3429000"/>
          </a:xfrm>
          <a:prstGeom prst="rect">
            <a:avLst/>
          </a:prstGeom>
          <a:ln>
            <a:noFill/>
          </a:ln>
        </p:spPr>
      </p:pic>
      <p:sp>
        <p:nvSpPr>
          <p:cNvPr id="8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9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TRACK RECORD</a:t>
            </a:r>
            <a:endParaRPr lang="en-US" sz="1000" noProof="1"/>
          </a:p>
        </p:txBody>
      </p:sp>
      <p:sp>
        <p:nvSpPr>
          <p:cNvPr id="10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11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12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3" name="title"/>
          <p:cNvSpPr txBox="1"/>
          <p:nvPr/>
        </p:nvSpPr>
        <p:spPr>
          <a:xfrm>
            <a:off x="508000" y="736600"/>
            <a:ext cx="508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02000"/>
              </a:lnSpc>
            </a:pPr>
            <a:r>
              <a:rPr lang="en-US" sz="3800" noProof="1" b="1" spc="-100" kern="0">
                <a:solidFill>
                  <a:srgbClr val="FFFFFF"/>
                </a:solidFill>
                <a:latin typeface="MiSans"/>
                <a:ea typeface="MiSans"/>
              </a:rPr>
              <a:t>Organisations served</a:t>
            </a:r>
            <a:endParaRPr lang="en-US" sz="3800" noProof="1"/>
          </a:p>
        </p:txBody>
      </p:sp>
      <p:sp>
        <p:nvSpPr>
          <p:cNvPr id="14" name="preamble"/>
          <p:cNvSpPr txBox="1"/>
          <p:nvPr/>
        </p:nvSpPr>
        <p:spPr>
          <a:xfrm>
            <a:off x="508000" y="15748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Naja Safety's practitioners have delivered training and safety support to personnel at the following organisations.</a:t>
            </a:r>
            <a:endParaRPr lang="en-US" sz="1200" noProof="1"/>
          </a:p>
        </p:txBody>
      </p:sp>
      <p:sp>
        <p:nvSpPr>
          <p:cNvPr id="15" name="insert-box"/>
          <p:cNvSpPr/>
          <p:nvPr/>
        </p:nvSpPr>
        <p:spPr>
          <a:xfrm>
            <a:off x="508000" y="2590800"/>
            <a:ext cx="5080000" cy="1219200"/>
          </a:xfrm>
          <a:prstGeom prst="rect">
            <a:avLst/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6" name="insert-text"/>
          <p:cNvSpPr txBox="1"/>
          <p:nvPr/>
        </p:nvSpPr>
        <p:spPr>
          <a:xfrm>
            <a:off x="711200" y="2590800"/>
            <a:ext cx="46736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000" noProof="1" b="1">
                <a:solidFill>
                  <a:srgbClr val="FFFFFF"/>
                </a:solidFill>
                <a:latin typeface="MiSans"/>
                <a:ea typeface="MiSans"/>
              </a:rPr>
              <a:t>[INSERT: CLIENT SCHEDULE]</a:t>
            </a:r>
            <a:endParaRPr lang="en-US" sz="1000" noProof="1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FFFFFF">
                    <a:alpha val="65098"/>
                  </a:srgbClr>
                </a:solidFill>
                <a:latin typeface="MiSans"/>
                <a:ea typeface="MiSans"/>
              </a:rPr>
              <a:t>Plain-text list, one organisation per line. Names are published only with each client's consent. No client logos are reproduced.</a:t>
            </a:r>
            <a:endParaRPr lang="en-US" sz="1000" noProof="1"/>
          </a:p>
        </p:txBody>
      </p:sp>
      <p:sp>
        <p:nvSpPr>
          <p:cNvPr id="17" name="references-line"/>
          <p:cNvSpPr txBox="1"/>
          <p:nvPr/>
        </p:nvSpPr>
        <p:spPr>
          <a:xfrm>
            <a:off x="508000" y="4064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Client references available on request.</a:t>
            </a:r>
            <a:endParaRPr lang="en-US" sz="1200" noProof="1"/>
          </a:p>
        </p:txBody>
      </p:sp>
      <p:sp>
        <p:nvSpPr>
          <p:cNvPr id="18" name="matrix-caption"/>
          <p:cNvSpPr txBox="1"/>
          <p:nvPr/>
        </p:nvSpPr>
        <p:spPr>
          <a:xfrm>
            <a:off x="508000" y="4572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FFFFFF">
                    <a:alpha val="65098"/>
                  </a:srgbClr>
                </a:solidFill>
                <a:latin typeface="MiSans"/>
                <a:ea typeface="MiSans"/>
              </a:rPr>
              <a:t>Right: training groups from Naja Safety sessions, 2018–2020.</a:t>
            </a:r>
            <a:endParaRPr lang="en-US" sz="1000" noProof="1"/>
          </a:p>
        </p:txBody>
      </p:sp>
      <p:sp>
        <p:nvSpPr>
          <p:cNvPr id="19" name="lab-1"/>
          <p:cNvSpPr/>
          <p:nvPr/>
        </p:nvSpPr>
        <p:spPr>
          <a:xfrm>
            <a:off x="508000" y="5969000"/>
            <a:ext cx="24130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0" name="lab-1-t"/>
          <p:cNvSpPr txBox="1"/>
          <p:nvPr/>
        </p:nvSpPr>
        <p:spPr>
          <a:xfrm>
            <a:off x="508000" y="59690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TEXT ONLY — NO CLIENT LOGOS</a:t>
            </a:r>
            <a:endParaRPr lang="en-US" sz="1000" noProof="1"/>
          </a:p>
        </p:txBody>
      </p:sp>
      <p:sp>
        <p:nvSpPr>
          <p:cNvPr id="21" name="lab-2"/>
          <p:cNvSpPr/>
          <p:nvPr/>
        </p:nvSpPr>
        <p:spPr>
          <a:xfrm>
            <a:off x="3048000" y="5969000"/>
            <a:ext cx="22606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2" name="lab-2-t"/>
          <p:cNvSpPr txBox="1"/>
          <p:nvPr/>
        </p:nvSpPr>
        <p:spPr>
          <a:xfrm>
            <a:off x="3048000" y="5969000"/>
            <a:ext cx="2260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REFERENCES ON REQUEST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12 / 14</a:t>
            </a:r>
            <a:endParaRPr lang="en-US" sz="1000" noProof="1"/>
          </a:p>
        </p:txBody>
      </p:sp>
      <p:sp>
        <p:nvSpPr>
          <p:cNvPr id="24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20833" r="2083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101"/>
          </a:solidFill>
          <a:ln>
            <a:noFill/>
          </a:ln>
        </p:spPr>
      </p:sp>
      <p:sp>
        <p:nvSpPr>
          <p:cNvPr id="4" name="caption-strip"/>
          <p:cNvSpPr/>
          <p:nvPr/>
        </p:nvSpPr>
        <p:spPr>
          <a:xfrm>
            <a:off x="6858000" y="6299200"/>
            <a:ext cx="5334000" cy="558800"/>
          </a:xfrm>
          <a:prstGeom prst="rect">
            <a:avLst/>
          </a:prstGeom>
          <a:solidFill>
            <a:srgbClr val="000101">
              <a:alpha val="60000"/>
            </a:srgbClr>
          </a:solidFill>
          <a:ln>
            <a:noFill/>
          </a:ln>
        </p:spPr>
      </p:sp>
      <p:sp>
        <p:nvSpPr>
          <p:cNvPr id="5" name="photo-caption"/>
          <p:cNvSpPr txBox="1"/>
          <p:nvPr/>
        </p:nvSpPr>
        <p:spPr>
          <a:xfrm>
            <a:off x="7010400" y="6502400"/>
            <a:ext cx="502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James Issachar at the Naja Safety office, 2018.</a:t>
            </a:r>
            <a:endParaRPr lang="en-US" sz="900" noProof="1"/>
          </a:p>
        </p:txBody>
      </p:sp>
      <p:sp>
        <p:nvSpPr>
          <p:cNvPr id="6" name="nav-1"/>
          <p:cNvSpPr txBox="1"/>
          <p:nvPr/>
        </p:nvSpPr>
        <p:spPr>
          <a:xfrm>
            <a:off x="241300" y="304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CONTACT</a:t>
            </a:r>
            <a:endParaRPr lang="en-US" sz="1000" noProof="1"/>
          </a:p>
        </p:txBody>
      </p:sp>
      <p:sp>
        <p:nvSpPr>
          <p:cNvPr id="7" name="nav-2"/>
          <p:cNvSpPr txBox="1"/>
          <p:nvPr/>
        </p:nvSpPr>
        <p:spPr>
          <a:xfrm>
            <a:off x="3048000" y="3048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NAJA SAFETY</a:t>
            </a:r>
            <a:endParaRPr lang="en-US" sz="1000" noProof="1"/>
          </a:p>
        </p:txBody>
      </p:sp>
      <p:sp>
        <p:nvSpPr>
          <p:cNvPr id="8" name="nav-3"/>
          <p:cNvSpPr txBox="1"/>
          <p:nvPr/>
        </p:nvSpPr>
        <p:spPr>
          <a:xfrm>
            <a:off x="5854700" y="304800"/>
            <a:ext cx="2667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CAPABILITY STATEMENT</a:t>
            </a:r>
            <a:endParaRPr lang="en-US" sz="1000" noProof="1"/>
          </a:p>
        </p:txBody>
      </p:sp>
      <p:sp>
        <p:nvSpPr>
          <p:cNvPr id="9" name="nav-4"/>
          <p:cNvSpPr txBox="1"/>
          <p:nvPr/>
        </p:nvSpPr>
        <p:spPr>
          <a:xfrm>
            <a:off x="8534400" y="3048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JOHOR BAHRU · SEP 2026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508000" y="736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02000"/>
              </a:lnSpc>
            </a:pPr>
            <a:r>
              <a:rPr lang="en-US" sz="3800" noProof="1" b="1" spc="-100" kern="0">
                <a:solidFill>
                  <a:srgbClr val="FFFFFF"/>
                </a:solidFill>
                <a:latin typeface="MiSans"/>
                <a:ea typeface="MiSans"/>
              </a:rPr>
              <a:t>How to engage</a:t>
            </a:r>
            <a:endParaRPr lang="en-US" sz="3800" noProof="1"/>
          </a:p>
        </p:txBody>
      </p:sp>
      <p:sp>
        <p:nvSpPr>
          <p:cNvPr id="11" name="b1-label"/>
          <p:cNvSpPr txBox="1"/>
          <p:nvPr/>
        </p:nvSpPr>
        <p:spPr>
          <a:xfrm>
            <a:off x="508000" y="1651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CONTACT</a:t>
            </a:r>
            <a:endParaRPr lang="en-US" sz="900" noProof="1"/>
          </a:p>
        </p:txBody>
      </p:sp>
      <p:sp>
        <p:nvSpPr>
          <p:cNvPr id="12" name="b1-text"/>
          <p:cNvSpPr txBox="1"/>
          <p:nvPr/>
        </p:nvSpPr>
        <p:spPr>
          <a:xfrm>
            <a:off x="508000" y="1879600"/>
            <a:ext cx="6096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James Issachar A/L Daniel — Director &amp; Lead Trainer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016-730 1802 · najasafety@gmail.com </a:t>
            </a:r>
            <a:r>
              <a:rPr lang="en-US" sz="1200" noProof="1">
                <a:solidFill>
                  <a:srgbClr val="FFFFFF"/>
                </a:solidFill>
                <a:highlight>
                  <a:srgbClr val="FFFFFF">
                    <a:alpha val="14902"/>
                  </a:srgbClr>
                </a:highlight>
                <a:latin typeface="MiSans"/>
                <a:ea typeface="MiSans"/>
              </a:rPr>
              <a:t>[DECIDE: domain email]</a:t>
            </a:r>
            <a:endParaRPr lang="en-US" sz="1200" noProof="1"/>
          </a:p>
        </p:txBody>
      </p:sp>
      <p:sp>
        <p:nvSpPr>
          <p:cNvPr id="13" name="b2-label"/>
          <p:cNvSpPr txBox="1"/>
          <p:nvPr/>
        </p:nvSpPr>
        <p:spPr>
          <a:xfrm>
            <a:off x="508000" y="28956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TO PREPARE A QUOTATION</a:t>
            </a:r>
            <a:endParaRPr lang="en-US" sz="900" noProof="1"/>
          </a:p>
        </p:txBody>
      </p:sp>
      <p:sp>
        <p:nvSpPr>
          <p:cNvPr id="14" name="b2-text"/>
          <p:cNvSpPr txBox="1"/>
          <p:nvPr/>
        </p:nvSpPr>
        <p:spPr>
          <a:xfrm>
            <a:off x="508000" y="3124200"/>
            <a:ext cx="609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highlight>
                  <a:srgbClr val="FFFFFF">
                    <a:alpha val="14902"/>
                  </a:srgbClr>
                </a:highlight>
                <a:latin typeface="MiSans"/>
                <a:ea typeface="MiSans"/>
              </a:rPr>
              <a:t>[INSERT: information required — programme, headcount, site location, dates]</a:t>
            </a:r>
            <a:endParaRPr lang="en-US" sz="1200" noProof="1"/>
          </a:p>
        </p:txBody>
      </p:sp>
      <p:sp>
        <p:nvSpPr>
          <p:cNvPr id="15" name="b3-label"/>
          <p:cNvSpPr txBox="1"/>
          <p:nvPr/>
        </p:nvSpPr>
        <p:spPr>
          <a:xfrm>
            <a:off x="508000" y="3683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TURNAROUND</a:t>
            </a:r>
            <a:endParaRPr lang="en-US" sz="900" noProof="1"/>
          </a:p>
        </p:txBody>
      </p:sp>
      <p:sp>
        <p:nvSpPr>
          <p:cNvPr id="16" name="b3-text"/>
          <p:cNvSpPr txBox="1"/>
          <p:nvPr/>
        </p:nvSpPr>
        <p:spPr>
          <a:xfrm>
            <a:off x="508000" y="3911600"/>
            <a:ext cx="609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highlight>
                  <a:srgbClr val="FFFFFF">
                    <a:alpha val="14902"/>
                  </a:srgbClr>
                </a:highlight>
                <a:latin typeface="MiSans"/>
                <a:ea typeface="MiSans"/>
              </a:rPr>
              <a:t>[INSERT: typical quotation turnaround]</a:t>
            </a:r>
            <a:endParaRPr lang="en-US" sz="1200" noProof="1"/>
          </a:p>
        </p:txBody>
      </p:sp>
      <p:sp>
        <p:nvSpPr>
          <p:cNvPr id="17" name="b4-text"/>
          <p:cNvSpPr txBox="1"/>
          <p:nvPr/>
        </p:nvSpPr>
        <p:spPr>
          <a:xfrm>
            <a:off x="508000" y="4521200"/>
            <a:ext cx="609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A formal quotation and training proposal is issued before any booking is confirmed.</a:t>
            </a:r>
            <a:endParaRPr lang="en-US" sz="1200" noProof="1"/>
          </a:p>
        </p:txBody>
      </p:sp>
      <p:sp>
        <p:nvSpPr>
          <p:cNvPr id="18" name="lab-1"/>
          <p:cNvSpPr/>
          <p:nvPr/>
        </p:nvSpPr>
        <p:spPr>
          <a:xfrm>
            <a:off x="508000" y="6070600"/>
            <a:ext cx="13208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19" name="lab-1-t"/>
          <p:cNvSpPr txBox="1"/>
          <p:nvPr/>
        </p:nvSpPr>
        <p:spPr>
          <a:xfrm>
            <a:off x="508000" y="6070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016-730 1802</a:t>
            </a:r>
            <a:endParaRPr lang="en-US" sz="1000" noProof="1"/>
          </a:p>
        </p:txBody>
      </p:sp>
      <p:sp>
        <p:nvSpPr>
          <p:cNvPr id="20" name="lab-2"/>
          <p:cNvSpPr/>
          <p:nvPr/>
        </p:nvSpPr>
        <p:spPr>
          <a:xfrm>
            <a:off x="1955800" y="6070600"/>
            <a:ext cx="12954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1" name="lab-2-t"/>
          <p:cNvSpPr txBox="1"/>
          <p:nvPr/>
        </p:nvSpPr>
        <p:spPr>
          <a:xfrm>
            <a:off x="1955800" y="6070600"/>
            <a:ext cx="1295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JOHOR BAHRU</a:t>
            </a:r>
            <a:endParaRPr lang="en-US" sz="1000" noProof="1"/>
          </a:p>
        </p:txBody>
      </p:sp>
      <p:sp>
        <p:nvSpPr>
          <p:cNvPr id="22" name="lab-3"/>
          <p:cNvSpPr/>
          <p:nvPr/>
        </p:nvSpPr>
        <p:spPr>
          <a:xfrm>
            <a:off x="3378200" y="6070600"/>
            <a:ext cx="2489200" cy="3048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98"/>
              </a:srgbClr>
            </a:solidFill>
          </a:ln>
        </p:spPr>
      </p:sp>
      <p:sp>
        <p:nvSpPr>
          <p:cNvPr id="23" name="lab-3-t"/>
          <p:cNvSpPr txBox="1"/>
          <p:nvPr/>
        </p:nvSpPr>
        <p:spPr>
          <a:xfrm>
            <a:off x="3378200" y="6070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 spc="100" kern="0">
                <a:solidFill>
                  <a:srgbClr val="FFFFFF"/>
                </a:solidFill>
                <a:latin typeface="MiSans"/>
                <a:ea typeface="MiSans"/>
              </a:rPr>
              <a:t>QUOTATION BEFORE BOOKING</a:t>
            </a:r>
            <a:endParaRPr lang="en-US" sz="1000" noProof="1"/>
          </a:p>
        </p:txBody>
      </p:sp>
      <p:sp>
        <p:nvSpPr>
          <p:cNvPr id="24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13 / 14</a:t>
            </a:r>
            <a:endParaRPr lang="en-US" sz="1000" noProof="1"/>
          </a:p>
        </p:txBody>
      </p:sp>
      <p:sp>
        <p:nvSpPr>
          <p:cNvPr id="25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508000" y="1905000"/>
            <a:ext cx="762000" cy="723900"/>
          </a:xfrm>
          <a:prstGeom prst="rect">
            <a:avLst/>
          </a:prstGeom>
          <a:ln>
            <a:noFill/>
          </a:ln>
        </p:spPr>
      </p:pic>
      <p:sp>
        <p:nvSpPr>
          <p:cNvPr id="3" name="name"/>
          <p:cNvSpPr txBox="1"/>
          <p:nvPr/>
        </p:nvSpPr>
        <p:spPr>
          <a:xfrm>
            <a:off x="508000" y="29464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800" noProof="1" b="1" spc="-100" kern="0">
                <a:solidFill>
                  <a:srgbClr val="FFFFFF"/>
                </a:solidFill>
                <a:latin typeface="MiSans"/>
                <a:ea typeface="MiSans"/>
              </a:rPr>
              <a:t>NAJA SAFETY</a:t>
            </a:r>
            <a:endParaRPr lang="en-US" sz="48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eyJ2aWV3Qm94IjpbMjQwLDFdLCJwb2ludHMiOiIwLDAgMjQwLDAiLCJjdXJ2ZSI6InNoYXJwIn0</pptd:line>
              </p:ext>
            </p:extLst>
          </p:nvPr>
        </p:nvSpPr>
        <p:spPr>
          <a:xfrm>
            <a:off x="508000" y="3962400"/>
            <a:ext cx="3048000" cy="12700"/>
          </a:xfrm>
          <a:custGeom>
            <a:avLst/>
            <a:gdLst/>
            <a:ahLst/>
            <a:cxnLst/>
            <a:rect l="l" t="t" r="r" b="b"/>
            <a:pathLst>
              <a:path w="240" h="1">
                <a:moveTo>
                  <a:pt x="0" y="0"/>
                </a:moveTo>
                <a:lnTo>
                  <a:pt x="240" y="0"/>
                </a:lnTo>
              </a:path>
            </a:pathLst>
          </a:custGeom>
          <a:noFill/>
          <a:ln w="12700">
            <a:solidFill>
              <a:srgbClr val="FFFFFF">
                <a:alpha val="34902"/>
              </a:srgbClr>
            </a:solidFill>
          </a:ln>
        </p:spPr>
      </p:sp>
      <p:sp>
        <p:nvSpPr>
          <p:cNvPr id="5" name="details"/>
          <p:cNvSpPr txBox="1"/>
          <p:nvPr/>
        </p:nvSpPr>
        <p:spPr>
          <a:xfrm>
            <a:off x="508000" y="4191000"/>
            <a:ext cx="635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200603041203 (JM0449867-U)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09-03, Blok C, Kompleks Austin Perdana, Taman Mount Austin, 81100 Johor Bahru, Johor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016-730 1802 · najasafety@gmail.com</a:t>
            </a:r>
            <a:endParaRPr lang="en-US" sz="1200" noProof="1"/>
          </a:p>
        </p:txBody>
      </p:sp>
      <p:sp>
        <p:nvSpPr>
          <p:cNvPr id="6" name="side-index"/>
          <p:cNvSpPr txBox="1"/>
          <p:nvPr/>
        </p:nvSpPr>
        <p:spPr>
          <a:xfrm>
            <a:off x="12026900" y="3048000"/>
            <a:ext cx="1397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FFFFFF">
                    <a:alpha val="50196"/>
                  </a:srgbClr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  <p:sp>
        <p:nvSpPr>
          <p:cNvPr id="7" name="page-num"/>
          <p:cNvSpPr txBox="1"/>
          <p:nvPr/>
        </p:nvSpPr>
        <p:spPr>
          <a:xfrm>
            <a:off x="2413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00" kern="0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14 / 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Naja Safety — Company Profile &amp; Capability Statement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